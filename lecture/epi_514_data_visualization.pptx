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91" r:id="rId16"/>
    <p:sldId id="271" r:id="rId17"/>
    <p:sldId id="292" r:id="rId18"/>
    <p:sldId id="272" r:id="rId19"/>
    <p:sldId id="293" r:id="rId20"/>
    <p:sldId id="273" r:id="rId21"/>
    <p:sldId id="274" r:id="rId22"/>
    <p:sldId id="275" r:id="rId23"/>
    <p:sldId id="294" r:id="rId24"/>
    <p:sldId id="276" r:id="rId25"/>
    <p:sldId id="295" r:id="rId26"/>
    <p:sldId id="277" r:id="rId27"/>
    <p:sldId id="296" r:id="rId28"/>
    <p:sldId id="278" r:id="rId29"/>
    <p:sldId id="297" r:id="rId30"/>
    <p:sldId id="279" r:id="rId31"/>
    <p:sldId id="280" r:id="rId32"/>
    <p:sldId id="281" r:id="rId33"/>
    <p:sldId id="298" r:id="rId34"/>
    <p:sldId id="282" r:id="rId35"/>
    <p:sldId id="283" r:id="rId36"/>
    <p:sldId id="299" r:id="rId37"/>
    <p:sldId id="284" r:id="rId38"/>
    <p:sldId id="300" r:id="rId39"/>
    <p:sldId id="301" r:id="rId40"/>
    <p:sldId id="285" r:id="rId41"/>
    <p:sldId id="286" r:id="rId42"/>
    <p:sldId id="287" r:id="rId43"/>
    <p:sldId id="288" r:id="rId44"/>
    <p:sldId id="289" r:id="rId45"/>
    <p:sldId id="29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D84"/>
    <a:srgbClr val="DC322F"/>
    <a:srgbClr val="1A1A1A"/>
    <a:srgbClr val="E03135"/>
    <a:srgbClr val="C16069"/>
    <a:srgbClr val="FF3418"/>
    <a:srgbClr val="3A4152"/>
    <a:srgbClr val="4B556B"/>
    <a:srgbClr val="989A9C"/>
    <a:srgbClr val="FFF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49" autoAdjust="0"/>
    <p:restoredTop sz="94658" autoAdjust="0"/>
  </p:normalViewPr>
  <p:slideViewPr>
    <p:cSldViewPr snapToGrid="0" snapToObjects="1">
      <p:cViewPr>
        <p:scale>
          <a:sx n="77" d="100"/>
          <a:sy n="77" d="100"/>
        </p:scale>
        <p:origin x="768" y="11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286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slides were created using Rmarkdown and its replication material is available on Github for any replication exercise: https://github.com/kim-julie/epi_514_data_viz/tree/main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1302"/>
            <a:ext cx="9144000" cy="1646498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4C2D84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5A21-E3F8-414E-8783-9B787CEE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10B1-3C39-5B4F-85DD-4E44D8BD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5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4C2D84"/>
                </a:solidFill>
                <a:latin typeface="Trebuchet MS" panose="020B070302020209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59EF-BAB7-0E42-9E60-A03A3B0D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B6D2-A026-D74A-8C2A-7AD33F22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D05D-520A-D942-8D98-B02EF8CF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DBC1-527D-3041-984A-EF5E7E9B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7BF1-44B1-744C-AB68-4BB0A6A59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4A49-6A1E-2F48-B419-02B0A17B9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A9989-2AC6-0F4E-ADFD-C6E06D00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625DC-FC15-A34E-972A-D70B8A82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2A21-61F6-4A4F-8B34-7B5540EF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1DF4-AED1-614B-BE12-21438630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BCAE-E5F3-8C40-9708-53662383E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57552-3DC5-3546-AB54-31C74D63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EE9D-F5D6-F54D-8468-AEFB4E718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1A1A1A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198EC-0E7C-514D-9D5C-E0079B57D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E07E0-5A9C-4B41-95FF-3BAA5F6B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DB537-974F-D34D-9750-CC69627A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F390-2D22-5048-A0FC-3FAD9329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D455-6580-E548-84D2-30E8C319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37170-F497-734A-8863-A2B1D6D2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678E-8EC0-9D40-85FD-A78B7303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0869-C0FC-2E44-824A-787E6D8B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8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FB1ED-2AE6-5449-BE22-43836D3C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820E-FB19-6E41-9F98-FE01AD87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09D32-6061-E14C-B370-0847ED7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BCD6-9805-9E45-9B7C-5314F41E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0"/>
            <a:ext cx="10517188" cy="342265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090755"/>
            <a:ext cx="10512424" cy="12538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4F16-08DB-C247-8F9D-24EA7D84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B46-16CB-7E41-AD5E-4493C928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A2BC5-3886-C647-BB53-7B07EAE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3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82B8-C849-1F4E-8FED-86CF39D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>
                <a:solidFill>
                  <a:srgbClr val="4C2D8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410FE-1E10-8C4A-BD9D-9A0F6C9D1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2359314"/>
            <a:ext cx="10517188" cy="350174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2F09-1B36-2F4E-8EEA-BAEEB3FD2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106630"/>
            <a:ext cx="10512424" cy="1143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7009-98F8-D441-A078-A31F891B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CA9B-B433-8E45-A2A3-CD0940DB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A396B-3342-4645-AC86-58732AAE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FF1A-8372-FB40-B0E0-0EE88C8B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C322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1868-78C4-704F-87A4-9909281C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64A86-EE40-7F47-8F4A-D5FD082D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6DD5-D90C-D148-9A75-6E5EF76E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49B3-720E-654D-9610-263AC0D9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9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E4B96-467B-A24D-9EC1-DD46EE699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0EC97-EC51-3242-A427-B6C401F9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4FCF-A603-6944-ACE1-F3530AA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700E-B16B-6340-9BEE-2E563F92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ADE9-5F17-2E4E-A23B-A3EF5CC9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6CB2-D1B6-B94A-84C1-83C65423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solidFill>
                  <a:srgbClr val="1A1A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433C7-4F7C-4247-8FF5-1E63E18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rgbClr val="DC322F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16D53-A7E8-384A-A924-CB556123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D3A5F-D224-144E-B1C6-E4C0A0C6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85A41-9B71-494D-8739-5A09F70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BF5EA-1FF6-EB48-B367-10F16FE22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91ED-FFB7-904F-8814-ED29EAA42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AD-BD6B-CE47-88CB-D79105849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305052-7E31-8548-802E-BBA9CB132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A9FF2A29-0C17-AD44-9B62-E2C61042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650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4C2D84"/>
          </a:solidFill>
          <a:latin typeface="ENCODE SANS NARROW MEDIUM" panose="02000000000000000000" pitchFamily="2" charset="77"/>
          <a:ea typeface="+mj-ea"/>
          <a:cs typeface="Gill Sans" panose="020B0502020104020203" pitchFamily="34" charset="-79"/>
        </a:defRPr>
      </a:lvl1pPr>
    </p:titleStyle>
    <p:bodyStyle>
      <a:lvl1pPr marL="128588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385763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42938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900113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157288" indent="-128588" algn="l" defTabSz="514350" rtl="0" eaLnBrk="1" latinLnBrk="0" hangingPunct="1">
        <a:lnSpc>
          <a:spcPts val="2400"/>
        </a:lnSpc>
        <a:spcBef>
          <a:spcPts val="1600"/>
        </a:spcBef>
        <a:buFont typeface="Arial" panose="020B0604020202020204" pitchFamily="34" charset="0"/>
        <a:buChar char="•"/>
        <a:defRPr sz="1800" b="0" i="0" kern="1200" baseline="0">
          <a:solidFill>
            <a:srgbClr val="1A1A1A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ggplot2/ggplot2.pdf" TargetMode="External"/><Relationship Id="rId2" Type="http://schemas.openxmlformats.org/officeDocument/2006/relationships/hyperlink" Target="https://faculty.washington.edu/cadolph/index.php?page=2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studio/cheatsheets/blob/main/data-visualization.pdf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EB9F-821C-3043-9B29-83C5977F5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96341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37200-5D83-FE46-9E69-B6B1D353C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1302"/>
            <a:ext cx="9144000" cy="1646498"/>
          </a:xfrm>
        </p:spPr>
        <p:txBody>
          <a:bodyPr/>
          <a:lstStyle/>
          <a:p>
            <a:pPr marL="0" lvl="0" indent="0">
              <a:buNone/>
            </a:pPr>
            <a:r>
              <a:t>EPI 514 2025 Sp</a:t>
            </a:r>
            <a:br/>
            <a:br/>
            <a:r>
              <a:t>Julie Kim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7C7-1ADA-474D-B8F0-3471D14F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2025-05-22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Principles of data visualization</a:t>
            </a:r>
          </a:p>
          <a:p>
            <a:pPr lvl="0"/>
            <a:r>
              <a:t>Introduction to </a:t>
            </a:r>
            <a:r>
              <a:rPr>
                <a:latin typeface="Courier"/>
              </a:rPr>
              <a:t>ggplot2</a:t>
            </a:r>
            <a:r>
              <a:t> package</a:t>
            </a:r>
          </a:p>
          <a:p>
            <a:pPr lvl="0"/>
            <a:r>
              <a:t>Exercise using </a:t>
            </a:r>
            <a:r>
              <a:rPr>
                <a:latin typeface="Courier"/>
              </a:rPr>
              <a:t>ggplot2</a:t>
            </a:r>
            <a:r>
              <a:t> package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Principles of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Five principles of scientific visualization laid out by Edward Tufte (1983)</a:t>
            </a:r>
          </a:p>
          <a:p>
            <a:pPr lvl="1"/>
            <a:r>
              <a:t>Avoid chartjunk</a:t>
            </a:r>
          </a:p>
          <a:p>
            <a:pPr lvl="1"/>
            <a:r>
              <a:t>Maximize data, minimize ink and space</a:t>
            </a:r>
          </a:p>
          <a:p>
            <a:pPr lvl="1"/>
            <a:r>
              <a:t>Avoid distortions, minimize lie factors</a:t>
            </a:r>
          </a:p>
          <a:p>
            <a:pPr lvl="1"/>
            <a:r>
              <a:t>Show the data and facilitate comparison</a:t>
            </a:r>
          </a:p>
          <a:p>
            <a:pPr lvl="1"/>
            <a:r>
              <a:t>Small multiples or repetitions of basic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are the problems?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Based on the principles by Edward Tufte, discuss potential problems of this chart with your table members</a:t>
            </a:r>
          </a:p>
        </p:txBody>
      </p:sp>
      <p:pic>
        <p:nvPicPr>
          <p:cNvPr id="3" name="Picture 1" descr="epi_514_data_visualization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can be the solution?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Focus on the main message</a:t>
            </a:r>
          </a:p>
        </p:txBody>
      </p:sp>
      <p:pic>
        <p:nvPicPr>
          <p:cNvPr id="3" name="Picture 1" descr="epi_514_data_visualization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are the problems?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Based on the principles by Edward Tufte, discuss potential problems of this chart with your table members</a:t>
            </a:r>
          </a:p>
        </p:txBody>
      </p:sp>
      <p:pic>
        <p:nvPicPr>
          <p:cNvPr id="3" name="Picture 1" descr="epi_514_data_visualization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Principles of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t>Additional advice:</a:t>
            </a:r>
          </a:p>
          <a:p>
            <a:pPr lvl="0"/>
            <a:r>
              <a:t>Be NICE to your viewers - never assume that people will know what you’re trying to show</a:t>
            </a:r>
          </a:p>
          <a:p>
            <a:pPr lvl="1"/>
            <a:r>
              <a:t>ALWAYS include axis titles in plain text (not variable name) and it’s scale</a:t>
            </a:r>
          </a:p>
          <a:p>
            <a:pPr lvl="1"/>
            <a:r>
              <a:t>Include detailed captions - captions should be self-explanatory</a:t>
            </a:r>
          </a:p>
          <a:p>
            <a:pPr lvl="0"/>
            <a:r>
              <a:t>Think about the morale of the story before you plot.</a:t>
            </a:r>
          </a:p>
          <a:p>
            <a:pPr lvl="1"/>
            <a:r>
              <a:t>Many journals only allow 4-6 tables/figures combined in the main text - be strategic about what you want to show.</a:t>
            </a:r>
          </a:p>
          <a:p>
            <a:pPr lvl="0"/>
            <a:r>
              <a:t>Visualization is a way of simplifying</a:t>
            </a:r>
          </a:p>
          <a:p>
            <a:pPr lvl="1"/>
            <a:r>
              <a:t>While some levels of granularity are important for readers to know, figure should be understandable.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Visualization for publication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Format</a:t>
            </a:r>
          </a:p>
          <a:p>
            <a:pPr lvl="1"/>
            <a:r>
              <a:t>4-5 figures and tables: Make sure you reference all figures/tables in the main text.</a:t>
            </a:r>
          </a:p>
          <a:p>
            <a:pPr lvl="1"/>
            <a:r>
              <a:t>It might be something that people only read other than your titles - think about the priorities.</a:t>
            </a:r>
          </a:p>
          <a:p>
            <a:pPr lvl="1"/>
            <a:r>
              <a:t>Most journals want vectorized image (vectorized pdf, svg, eps, adobe illustrator)</a:t>
            </a:r>
          </a:p>
          <a:p>
            <a:pPr lvl="2"/>
            <a:r>
              <a:t>jpeg/jpg, png, etc are sometimes permitted for initial submission, but eventually vectorized image can be required.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Visualization for publication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lvl="0">
              <a:lnSpc>
                <a:spcPct val="100000"/>
              </a:lnSpc>
            </a:pPr>
            <a:r>
              <a:rPr dirty="0"/>
              <a:t>At some point of your review process, the reviewers or editors will comment about image quality, captions, choice of colors and axis labels/scale/titles.</a:t>
            </a:r>
          </a:p>
          <a:p>
            <a:pPr lvl="1">
              <a:lnSpc>
                <a:spcPct val="100000"/>
              </a:lnSpc>
            </a:pPr>
            <a:r>
              <a:rPr dirty="0"/>
              <a:t>If image quality is too low, it might appear blurry in your paper.</a:t>
            </a:r>
          </a:p>
          <a:p>
            <a:pPr lvl="1">
              <a:lnSpc>
                <a:spcPct val="100000"/>
              </a:lnSpc>
            </a:pPr>
            <a:r>
              <a:rPr dirty="0"/>
              <a:t>Provide details for caption</a:t>
            </a:r>
          </a:p>
          <a:p>
            <a:pPr lvl="1">
              <a:lnSpc>
                <a:spcPct val="100000"/>
              </a:lnSpc>
            </a:pPr>
            <a:r>
              <a:rPr dirty="0"/>
              <a:t>Add details even if you included in your main text.</a:t>
            </a:r>
          </a:p>
          <a:p>
            <a:pPr lvl="1">
              <a:lnSpc>
                <a:spcPct val="100000"/>
              </a:lnSpc>
            </a:pPr>
            <a:r>
              <a:rPr dirty="0"/>
              <a:t>Colors</a:t>
            </a:r>
          </a:p>
          <a:p>
            <a:pPr lvl="2">
              <a:lnSpc>
                <a:spcPct val="100000"/>
              </a:lnSpc>
            </a:pPr>
            <a:r>
              <a:rPr dirty="0"/>
              <a:t>it’s not about making it pretty.</a:t>
            </a:r>
          </a:p>
          <a:p>
            <a:pPr lvl="2">
              <a:lnSpc>
                <a:spcPct val="100000"/>
              </a:lnSpc>
            </a:pPr>
            <a:r>
              <a:rPr dirty="0"/>
              <a:t>Also consider “intuitiveness” of colors.</a:t>
            </a:r>
          </a:p>
          <a:p>
            <a:pPr lvl="1">
              <a:lnSpc>
                <a:spcPct val="100000"/>
              </a:lnSpc>
            </a:pPr>
            <a:r>
              <a:rPr dirty="0"/>
              <a:t>Axis labels, scale and titles should be detailed as long as it doesn’t hurt your figure</a:t>
            </a:r>
          </a:p>
          <a:p>
            <a:pPr lvl="2">
              <a:lnSpc>
                <a:spcPct val="100000"/>
              </a:lnSpc>
            </a:pPr>
            <a:r>
              <a:rPr dirty="0"/>
              <a:t>If using multiple panes in one figure, be consistent with the scales</a:t>
            </a:r>
          </a:p>
          <a:p>
            <a:pPr lvl="2">
              <a:lnSpc>
                <a:spcPct val="100000"/>
              </a:lnSpc>
            </a:pPr>
            <a:r>
              <a:rPr dirty="0"/>
              <a:t>Many journals now allow supplementary materials</a:t>
            </a:r>
          </a:p>
          <a:p>
            <a:pPr lvl="2">
              <a:lnSpc>
                <a:spcPct val="100000"/>
              </a:lnSpc>
            </a:pPr>
            <a:r>
              <a:rPr dirty="0"/>
              <a:t>Any sensitivity analysis or background analysis (e.g. describing the sample that is not directly related to your main analysis) typically goes into supplementary figures.</a:t>
            </a:r>
          </a:p>
          <a:p>
            <a:pPr lvl="2">
              <a:lnSpc>
                <a:spcPct val="100000"/>
              </a:lnSpc>
            </a:pPr>
            <a:r>
              <a:rPr dirty="0"/>
              <a:t>Validation (e.g. comparison to other data sources) also goes into supplementary materials.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Introduction to ggplot2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Popular R package for data visualization, particularly well-known for its implementation of the “Grammar of Graphics.”</a:t>
            </a:r>
          </a:p>
          <a:p>
            <a:pPr lvl="0"/>
            <a:r>
              <a:t>High formatting flexibility</a:t>
            </a:r>
          </a:p>
          <a:p>
            <a:pPr lvl="0"/>
            <a:r>
              <a:t>WIDE variety of visualization options (from scatter plots to maps and 3D plots)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Installing and loading ggplot2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Installation</a:t>
            </a:r>
          </a:p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require</a:t>
            </a:r>
            <a:r>
              <a:rPr>
                <a:solidFill>
                  <a:srgbClr val="003B4F"/>
                </a:solidFill>
                <a:latin typeface="Courier"/>
              </a:rPr>
              <a:t>(ggplot2) </a:t>
            </a: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'ggplot2'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/>
            <a:r>
              <a:t>Load package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</a:p>
          <a:p>
            <a:pPr lvl="0"/>
            <a:r>
              <a:rPr>
                <a:latin typeface="Courier"/>
              </a:rPr>
              <a:t>ggplot2</a:t>
            </a:r>
            <a:r>
              <a:t> is part of </a:t>
            </a:r>
            <a:r>
              <a:rPr>
                <a:latin typeface="Courier"/>
              </a:rPr>
              <a:t>tidyverse</a:t>
            </a:r>
            <a:r>
              <a:t> package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Example - Loading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Let’s dive directly into some examples. We will use our data after cleaning from the individual assignments for this exercise.</a:t>
            </a:r>
          </a:p>
          <a:p>
            <a:pPr lvl="0" indent="0">
              <a:buNone/>
            </a:pPr>
            <a:r>
              <a:rPr dirty="0">
                <a:solidFill>
                  <a:srgbClr val="4758AB"/>
                </a:solidFill>
                <a:latin typeface="Courier"/>
              </a:rPr>
              <a:t>library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tidyverse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Warning: package '</a:t>
            </a:r>
            <a:r>
              <a:rPr dirty="0" err="1">
                <a:latin typeface="Courier"/>
              </a:rPr>
              <a:t>purrr</a:t>
            </a:r>
            <a:r>
              <a:rPr dirty="0">
                <a:latin typeface="Courier"/>
              </a:rPr>
              <a:t>' was built under R version 4.3.3</a:t>
            </a:r>
          </a:p>
          <a:p>
            <a:pPr lvl="0" indent="0">
              <a:buNone/>
            </a:pPr>
            <a:r>
              <a:rPr dirty="0">
                <a:solidFill>
                  <a:srgbClr val="4758AB"/>
                </a:solidFill>
                <a:latin typeface="Courier"/>
              </a:rPr>
              <a:t>library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ggpubr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 &lt;- </a:t>
            </a:r>
            <a:r>
              <a:rPr dirty="0" err="1">
                <a:solidFill>
                  <a:srgbClr val="4758AB"/>
                </a:solidFill>
                <a:latin typeface="Courier"/>
              </a:rPr>
              <a:t>read_csv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20794D"/>
                </a:solidFill>
                <a:latin typeface="Courier"/>
              </a:rPr>
              <a:t>"/Users/</a:t>
            </a:r>
            <a:r>
              <a:rPr dirty="0" err="1">
                <a:solidFill>
                  <a:srgbClr val="20794D"/>
                </a:solidFill>
                <a:latin typeface="Courier"/>
              </a:rPr>
              <a:t>sojink</a:t>
            </a:r>
            <a:r>
              <a:rPr dirty="0">
                <a:solidFill>
                  <a:srgbClr val="20794D"/>
                </a:solidFill>
                <a:latin typeface="Courier"/>
              </a:rPr>
              <a:t>/Documents/GitHub/epi_514_data_viz/data/</a:t>
            </a:r>
            <a:r>
              <a:rPr dirty="0" err="1">
                <a:solidFill>
                  <a:srgbClr val="20794D"/>
                </a:solidFill>
                <a:latin typeface="Courier"/>
              </a:rPr>
              <a:t>individualhw_post.csv</a:t>
            </a:r>
            <a:r>
              <a:rPr dirty="0">
                <a:solidFill>
                  <a:srgbClr val="20794D"/>
                </a:solidFill>
                <a:latin typeface="Courier"/>
              </a:rPr>
              <a:t>"</a:t>
            </a:r>
            <a:r>
              <a:rPr dirty="0">
                <a:solidFill>
                  <a:srgbClr val="003B4F"/>
                </a:solidFill>
                <a:latin typeface="Courier"/>
              </a:rPr>
              <a:t>) </a:t>
            </a:r>
            <a:r>
              <a:rPr dirty="0">
                <a:solidFill>
                  <a:srgbClr val="5E5E5E"/>
                </a:solidFill>
                <a:latin typeface="Courier"/>
              </a:rPr>
              <a:t># Change directory and filename to your choice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Say we want to look at the distribution of </a:t>
            </a:r>
            <a:r>
              <a:rPr dirty="0">
                <a:latin typeface="Courier"/>
              </a:rPr>
              <a:t>avedrnk3</a:t>
            </a:r>
            <a:r>
              <a:rPr dirty="0"/>
              <a:t> variable in our data.</a:t>
            </a:r>
          </a:p>
          <a:p>
            <a:pPr lvl="0"/>
            <a:r>
              <a:rPr dirty="0"/>
              <a:t>Do you see any problem here?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geom_histogram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id="3" name="Picture 1" descr="epi_514_data_visualization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1354" y="3105665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Many of us might know what </a:t>
            </a:r>
            <a:r>
              <a:rPr dirty="0">
                <a:latin typeface="Courier"/>
              </a:rPr>
              <a:t>avedrnk3</a:t>
            </a:r>
            <a:r>
              <a:rPr dirty="0"/>
              <a:t> means, but your readers/preceptors don’t know what it means.</a:t>
            </a:r>
          </a:p>
          <a:p>
            <a:pPr lvl="0"/>
            <a:r>
              <a:rPr dirty="0"/>
              <a:t>We will specify axis titles using </a:t>
            </a:r>
            <a:r>
              <a:rPr dirty="0">
                <a:latin typeface="Courier"/>
              </a:rPr>
              <a:t>labs</a:t>
            </a:r>
            <a:r>
              <a:rPr dirty="0"/>
              <a:t> layer.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Option 1</a:t>
            </a:r>
          </a:p>
          <a:p>
            <a:pPr lvl="0"/>
            <a:r>
              <a:rPr dirty="0"/>
              <a:t>If you put </a:t>
            </a:r>
            <a:r>
              <a:rPr dirty="0">
                <a:latin typeface="Courier"/>
              </a:rPr>
              <a:t>data</a:t>
            </a:r>
            <a:r>
              <a:rPr dirty="0"/>
              <a:t> and </a:t>
            </a:r>
            <a:r>
              <a:rPr dirty="0">
                <a:latin typeface="Courier"/>
              </a:rPr>
              <a:t>mapping</a:t>
            </a:r>
            <a:r>
              <a:rPr dirty="0"/>
              <a:t> arguments into </a:t>
            </a:r>
            <a:r>
              <a:rPr dirty="0" err="1">
                <a:latin typeface="Courier"/>
              </a:rPr>
              <a:t>ggplot</a:t>
            </a:r>
            <a:r>
              <a:rPr dirty="0">
                <a:latin typeface="Courier"/>
              </a:rPr>
              <a:t>()</a:t>
            </a:r>
            <a:r>
              <a:rPr dirty="0"/>
              <a:t>, it will automatically inherit to all layers below (</a:t>
            </a:r>
            <a:r>
              <a:rPr dirty="0" err="1">
                <a:latin typeface="Courier"/>
              </a:rPr>
              <a:t>geom_histogram</a:t>
            </a:r>
            <a:r>
              <a:rPr dirty="0"/>
              <a:t> in this case).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geom_histogram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"Distribution of average alcoholic drinks per day (on days when drank) in past 30"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subtitle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"Source: BRFSS 2021"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9BC04-CAB7-AAEF-F66C-40AD15DB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162F-6C54-A24A-9CFA-3F7673FF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259AD-6CFE-9A35-D4F9-6E3AABCD6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Many of us might know what </a:t>
            </a:r>
            <a:r>
              <a:rPr dirty="0">
                <a:latin typeface="Courier"/>
              </a:rPr>
              <a:t>avedrnk3</a:t>
            </a:r>
            <a:r>
              <a:rPr dirty="0"/>
              <a:t> means, but your readers/preceptors don’t know what it means.</a:t>
            </a:r>
          </a:p>
          <a:p>
            <a:pPr lvl="0"/>
            <a:r>
              <a:rPr dirty="0"/>
              <a:t>We will specify axis titles using </a:t>
            </a:r>
            <a:r>
              <a:rPr dirty="0">
                <a:latin typeface="Courier"/>
              </a:rPr>
              <a:t>labs</a:t>
            </a:r>
            <a:r>
              <a:rPr dirty="0"/>
              <a:t> layer.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Option </a:t>
            </a:r>
            <a:r>
              <a:rPr b="1" dirty="0"/>
              <a:t>2</a:t>
            </a:r>
          </a:p>
          <a:p>
            <a:pPr lvl="0"/>
            <a:r>
              <a:rPr dirty="0"/>
              <a:t>Both </a:t>
            </a:r>
            <a:r>
              <a:rPr dirty="0">
                <a:latin typeface="Courier"/>
              </a:rPr>
              <a:t>data</a:t>
            </a:r>
            <a:r>
              <a:rPr dirty="0"/>
              <a:t> and </a:t>
            </a:r>
            <a:r>
              <a:rPr dirty="0">
                <a:latin typeface="Courier"/>
              </a:rPr>
              <a:t>mapping</a:t>
            </a:r>
            <a:r>
              <a:rPr dirty="0"/>
              <a:t> arguments can go into geometry argument (</a:t>
            </a:r>
            <a:r>
              <a:rPr dirty="0" err="1">
                <a:latin typeface="Courier"/>
              </a:rPr>
              <a:t>geom_histogram</a:t>
            </a:r>
            <a:r>
              <a:rPr dirty="0"/>
              <a:t> in this case) too</a:t>
            </a:r>
          </a:p>
          <a:p>
            <a:pPr lvl="1"/>
            <a:r>
              <a:rPr dirty="0"/>
              <a:t>But note that this will only apply to the geometry you’re specifying (more examples coming)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geom_histogram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"Distribution of average alcoholic drinks per day (on days when drank) in past 30"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subtitle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"Source: BRFSS 2021"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541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Plotting - Histogram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It’s difficult to read some numbers in the axis because the numbers are too sparse.</a:t>
            </a:r>
          </a:p>
          <a:p>
            <a:pPr lvl="0"/>
            <a:r>
              <a:rPr dirty="0"/>
              <a:t>We will add more numbers using:</a:t>
            </a:r>
          </a:p>
          <a:p>
            <a:pPr lvl="1"/>
            <a:r>
              <a:rPr sz="1800" dirty="0" err="1">
                <a:latin typeface="Courier"/>
              </a:rPr>
              <a:t>scale_x_continuous</a:t>
            </a:r>
            <a:r>
              <a:rPr sz="1800" dirty="0"/>
              <a:t>: for x-axis labels</a:t>
            </a:r>
          </a:p>
          <a:p>
            <a:pPr lvl="1"/>
            <a:r>
              <a:rPr sz="1800" dirty="0" err="1">
                <a:latin typeface="Courier"/>
              </a:rPr>
              <a:t>scale_y_continuous</a:t>
            </a:r>
            <a:r>
              <a:rPr sz="1800" dirty="0"/>
              <a:t>: for y-axis labels</a:t>
            </a:r>
          </a:p>
          <a:p>
            <a:pPr lvl="1"/>
            <a:r>
              <a:rPr sz="1800" dirty="0"/>
              <a:t>argument: </a:t>
            </a:r>
            <a:r>
              <a:rPr sz="1800" dirty="0">
                <a:latin typeface="Courier"/>
              </a:rPr>
              <a:t>breaks</a:t>
            </a:r>
            <a:r>
              <a:rPr sz="1800" dirty="0"/>
              <a:t> to specify values for axis breaks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geom_histogram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"Distribution of average alcoholic drinks per day (on days when drank) in past 30"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subtitle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"Source: BRFSS 2021"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scale_x_continuous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breaks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seq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80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5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scale_y_continuous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breaks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seq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90000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10000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C784-5843-FD86-B7D7-26BE5F31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D785-8594-8FC9-0618-CEDC0AF1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Plotting - Histogram</a:t>
            </a:r>
          </a:p>
        </p:txBody>
      </p:sp>
      <p:pic>
        <p:nvPicPr>
          <p:cNvPr id="3" name="Picture 1" descr="epi_514_data_visualization_files/figure-pptx/unnamed-chunk-13-1.png">
            <a:extLst>
              <a:ext uri="{FF2B5EF4-FFF2-40B4-BE49-F238E27FC236}">
                <a16:creationId xmlns:a16="http://schemas.microsoft.com/office/drawing/2014/main" id="{CAAE9AB7-AD1A-49BA-5BBA-E66446146F3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9204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Based on what we know about </a:t>
            </a:r>
            <a:r>
              <a:rPr dirty="0">
                <a:latin typeface="Courier"/>
              </a:rPr>
              <a:t>avedrnk3</a:t>
            </a:r>
            <a:r>
              <a:rPr dirty="0"/>
              <a:t> variable, we would rather want to look at closer look at numbers between 0-20, instead of 0-20</a:t>
            </a:r>
          </a:p>
          <a:p>
            <a:pPr lvl="0"/>
            <a:r>
              <a:rPr dirty="0"/>
              <a:t>We will add more arguments in:</a:t>
            </a:r>
          </a:p>
          <a:p>
            <a:pPr lvl="1"/>
            <a:r>
              <a:rPr sz="1800" dirty="0" err="1">
                <a:latin typeface="Courier"/>
              </a:rPr>
              <a:t>scale_x_continuous</a:t>
            </a:r>
            <a:r>
              <a:rPr sz="1800" dirty="0"/>
              <a:t>: for x-axis labels</a:t>
            </a:r>
          </a:p>
          <a:p>
            <a:pPr lvl="1"/>
            <a:r>
              <a:rPr sz="1800" dirty="0"/>
              <a:t>argument: </a:t>
            </a:r>
            <a:r>
              <a:rPr sz="1800" dirty="0">
                <a:latin typeface="Courier"/>
              </a:rPr>
              <a:t>limits</a:t>
            </a:r>
            <a:r>
              <a:rPr sz="1800" dirty="0"/>
              <a:t> to specify values for axis limits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geom_histogram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"Distribution of average alcoholic drinks per day (on days when drank) in past 30"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subtitle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"Source: BRFSS 2021"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scale_x_continuous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breaks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seq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20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5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limits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c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20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scale_y_continuous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breaks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seq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90000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AD0000"/>
                </a:solidFill>
                <a:latin typeface="Courier"/>
              </a:rPr>
              <a:t>10000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0BCC3-F9DF-87E0-69B1-4022A68C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C0E0-4D12-37E1-AD02-BE20F121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pic>
        <p:nvPicPr>
          <p:cNvPr id="3" name="Picture 1" descr="epi_514_data_visualization_files/figure-pptx/unnamed-chunk-14-1.png">
            <a:extLst>
              <a:ext uri="{FF2B5EF4-FFF2-40B4-BE49-F238E27FC236}">
                <a16:creationId xmlns:a16="http://schemas.microsoft.com/office/drawing/2014/main" id="{DA7A40EB-460B-755A-D09A-D2DBB5F2DBE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9786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t>For this course scatter plots do not really make sense - why?</a:t>
            </a:r>
          </a:p>
          <a:p>
            <a:pPr lvl="0"/>
            <a:r>
              <a:t>But we’ll still learn how to do this</a:t>
            </a:r>
          </a:p>
          <a:p>
            <a:pPr lvl="0"/>
            <a:r>
              <a:t>Now, we will start looking at the relationship between variables.</a:t>
            </a:r>
          </a:p>
          <a:p>
            <a:pPr lvl="0"/>
            <a:r>
              <a:t>Say we want to look at the relationship between </a:t>
            </a:r>
            <a:r>
              <a:rPr>
                <a:latin typeface="Courier"/>
              </a:rPr>
              <a:t>avedrnk3</a:t>
            </a:r>
            <a:r>
              <a:t> and </a:t>
            </a:r>
            <a:r>
              <a:rPr>
                <a:latin typeface="Courier"/>
              </a:rPr>
              <a:t>marijan1</a:t>
            </a:r>
            <a:r>
              <a:t>.</a:t>
            </a:r>
          </a:p>
          <a:p>
            <a:pPr lvl="0"/>
            <a:r>
              <a:t>Any problems here?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alcoholic drinks per day"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369986 rows containing missing values or values outside the scale range
(`geom_point()`).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pic>
        <p:nvPicPr>
          <p:cNvPr id="3" name="Picture 1" descr="epi_514_data_visualization_files/figure-pptx/unnamed-chunk-1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Now you wonder: how old are they?</a:t>
            </a:r>
          </a:p>
          <a:p>
            <a:pPr lvl="0"/>
            <a:r>
              <a:rPr dirty="0"/>
              <a:t>One option to do this could be repeating faceting but also by age.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marijan1))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"Average alcoholic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facet_wrap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 err="1">
                <a:solidFill>
                  <a:srgbClr val="5E5E5E"/>
                </a:solidFill>
                <a:latin typeface="Courier"/>
              </a:rPr>
              <a:t>~</a:t>
            </a:r>
            <a:r>
              <a:rPr dirty="0" err="1">
                <a:solidFill>
                  <a:srgbClr val="003B4F"/>
                </a:solidFill>
                <a:latin typeface="Courier"/>
              </a:rPr>
              <a:t>age_g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657422"/>
                </a:solidFill>
                <a:latin typeface="Courier"/>
              </a:rPr>
              <a:t>ncol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6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Warning: Removed 369986 rows containing missing values or values outside the scale range
(`</a:t>
            </a:r>
            <a:r>
              <a:rPr dirty="0" err="1">
                <a:latin typeface="Courier"/>
              </a:rPr>
              <a:t>geom_point</a:t>
            </a:r>
            <a:r>
              <a:rPr dirty="0">
                <a:latin typeface="Courier"/>
              </a:rPr>
              <a:t>()`).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2ACD-B1CB-38DF-BA3C-F1C9C330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9C85-5742-B4F5-3F95-F47FF72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pic>
        <p:nvPicPr>
          <p:cNvPr id="3" name="Picture 1" descr="epi_514_data_visualization_files/figure-pptx/unnamed-chunk-17-1.png">
            <a:extLst>
              <a:ext uri="{FF2B5EF4-FFF2-40B4-BE49-F238E27FC236}">
                <a16:creationId xmlns:a16="http://schemas.microsoft.com/office/drawing/2014/main" id="{4184444E-2BEB-A926-6624-33A7744BD52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9900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Now you wonder: how old are they?</a:t>
            </a:r>
          </a:p>
          <a:p>
            <a:pPr lvl="0"/>
            <a:r>
              <a:rPr dirty="0"/>
              <a:t>Another option could be using the color instead of creating 12 panes of plots.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marijan1, </a:t>
            </a:r>
            <a:r>
              <a:rPr dirty="0">
                <a:solidFill>
                  <a:srgbClr val="657422"/>
                </a:solidFill>
                <a:latin typeface="Courier"/>
              </a:rPr>
              <a:t>col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age_g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"Average alcoholic drinks per day 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facet_wrap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Warning: Removed 369986 rows containing missing values or values outside the scale range
(`</a:t>
            </a:r>
            <a:r>
              <a:rPr dirty="0" err="1">
                <a:latin typeface="Courier"/>
              </a:rPr>
              <a:t>geom_point</a:t>
            </a:r>
            <a:r>
              <a:rPr dirty="0">
                <a:latin typeface="Courier"/>
              </a:rPr>
              <a:t>()`).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992F-CD4F-315D-C8B1-85537A02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661D-F173-63BD-2EDE-B0E7ECC5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pic>
        <p:nvPicPr>
          <p:cNvPr id="3" name="Picture 1" descr="epi_514_data_visualization_files/figure-pptx/unnamed-chunk-18-1.png">
            <a:extLst>
              <a:ext uri="{FF2B5EF4-FFF2-40B4-BE49-F238E27FC236}">
                <a16:creationId xmlns:a16="http://schemas.microsoft.com/office/drawing/2014/main" id="{4BEDB9EE-CA35-9A7C-8B39-59656B660B33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4815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If the journal your submitting to required black/white-only figures, you can do this using the shape of the points instead of colors.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marijan1, </a:t>
            </a:r>
            <a:r>
              <a:rPr dirty="0">
                <a:solidFill>
                  <a:srgbClr val="657422"/>
                </a:solidFill>
                <a:latin typeface="Courier"/>
              </a:rPr>
              <a:t>shape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age_g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"Average alcoholic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"Marijuana use"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facet_wrap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Warning: Removed 369986 rows containing missing values or values outside the scale range
(`</a:t>
            </a:r>
            <a:r>
              <a:rPr dirty="0" err="1">
                <a:latin typeface="Courier"/>
              </a:rPr>
              <a:t>geom_point</a:t>
            </a:r>
            <a:r>
              <a:rPr dirty="0">
                <a:latin typeface="Courier"/>
              </a:rPr>
              <a:t>()`).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B854-8794-16C0-476F-2EF697FC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BE3A-4892-2A2B-DEC8-9235098F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pic>
        <p:nvPicPr>
          <p:cNvPr id="3" name="Picture 1" descr="epi_514_data_visualization_files/figure-pptx/unnamed-chunk-19-1.png">
            <a:extLst>
              <a:ext uri="{FF2B5EF4-FFF2-40B4-BE49-F238E27FC236}">
                <a16:creationId xmlns:a16="http://schemas.microsoft.com/office/drawing/2014/main" id="{F16E7DC2-2057-6657-0B55-7A42218442C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1908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One last thing - it’s actually pretty difficult to read the axis titles and texts because the font size is too small.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data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mapping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avedrnk3,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marijan1, </a:t>
            </a:r>
            <a:r>
              <a:rPr dirty="0">
                <a:solidFill>
                  <a:srgbClr val="657422"/>
                </a:solidFill>
                <a:latin typeface="Courier"/>
              </a:rPr>
              <a:t>shape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age_g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geom_point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"Average alcoholic drinks per day"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"Marijuana use"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facet_wrap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5E5E5E"/>
                </a:solidFill>
                <a:latin typeface="Courier"/>
              </a:rPr>
              <a:t>~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theme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axis.title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element_text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size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18</a:t>
            </a:r>
            <a:r>
              <a:rPr dirty="0">
                <a:solidFill>
                  <a:srgbClr val="003B4F"/>
                </a:solidFill>
                <a:latin typeface="Courier"/>
              </a:rPr>
              <a:t>),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</a:t>
            </a:r>
            <a:r>
              <a:rPr dirty="0" err="1">
                <a:solidFill>
                  <a:srgbClr val="657422"/>
                </a:solidFill>
                <a:latin typeface="Courier"/>
              </a:rPr>
              <a:t>axis.text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element_text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size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15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</a:t>
            </a:r>
            <a:r>
              <a:rPr dirty="0" err="1">
                <a:solidFill>
                  <a:srgbClr val="657422"/>
                </a:solidFill>
                <a:latin typeface="Courier"/>
              </a:rPr>
              <a:t>strip.text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4758AB"/>
                </a:solidFill>
                <a:latin typeface="Courier"/>
              </a:rPr>
              <a:t>element_text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size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15</a:t>
            </a:r>
            <a:r>
              <a:rPr dirty="0">
                <a:solidFill>
                  <a:srgbClr val="003B4F"/>
                </a:solidFill>
                <a:latin typeface="Courier"/>
              </a:rPr>
              <a:t>)) </a:t>
            </a:r>
            <a:r>
              <a:rPr dirty="0">
                <a:solidFill>
                  <a:srgbClr val="5E5E5E"/>
                </a:solidFill>
                <a:latin typeface="Courier"/>
              </a:rPr>
              <a:t># for facet titles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Warning: Removed 369986 rows containing missing values or values outside the scale range
(`</a:t>
            </a:r>
            <a:r>
              <a:rPr dirty="0" err="1">
                <a:latin typeface="Courier"/>
              </a:rPr>
              <a:t>geom_point</a:t>
            </a:r>
            <a:r>
              <a:rPr dirty="0">
                <a:latin typeface="Courier"/>
              </a:rPr>
              <a:t>()`).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4B1BD-45DD-EB79-3FE2-EFADD5DE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7927-9716-1273-3E81-C288408D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Plotting - Scatter</a:t>
            </a:r>
          </a:p>
        </p:txBody>
      </p:sp>
      <p:pic>
        <p:nvPicPr>
          <p:cNvPr id="3" name="Picture 1" descr="epi_514_data_visualization_files/figure-pptx/unnamed-chunk-20-1.png">
            <a:extLst>
              <a:ext uri="{FF2B5EF4-FFF2-40B4-BE49-F238E27FC236}">
                <a16:creationId xmlns:a16="http://schemas.microsoft.com/office/drawing/2014/main" id="{5404A6D9-3984-1CAB-3033-CFF93B78DE2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68410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786BF-9B35-D5FB-BA76-8DD2B71B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Which one did you like the most?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 </a:t>
            </a:r>
            <a:r>
              <a:rPr>
                <a:latin typeface="Courier"/>
              </a:rPr>
              <a:t>geom_line()</a:t>
            </a:r>
            <a:r>
              <a:t> instead of </a:t>
            </a:r>
            <a:r>
              <a:rPr>
                <a:latin typeface="Courier"/>
              </a:rPr>
              <a:t>geom_point()</a:t>
            </a:r>
            <a:r>
              <a:t> for line plots.</a:t>
            </a:r>
          </a:p>
          <a:p>
            <a:pPr lvl="0"/>
            <a:r>
              <a:t>Helpful for visualizing time-trends or relationships.</a:t>
            </a:r>
          </a:p>
          <a:p>
            <a:pPr lvl="0"/>
            <a:r>
              <a:t>Example: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age_g))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number of drinking days"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sexvar)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strip.text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# for facet titles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Plotting - Bars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Histogram is one type of bar graph that shows frequency of observations.</a:t>
            </a:r>
          </a:p>
          <a:p>
            <a:pPr lvl="0"/>
            <a:r>
              <a:rPr dirty="0"/>
              <a:t>Bar graph are especially helpful for binary/categorical variables.</a:t>
            </a:r>
          </a:p>
          <a:p>
            <a:pPr lvl="1"/>
            <a:r>
              <a:rPr dirty="0"/>
              <a:t>Scatter and line plots might not work well for categorical variables.</a:t>
            </a:r>
          </a:p>
          <a:p>
            <a:pPr lvl="0"/>
            <a:r>
              <a:rPr dirty="0"/>
              <a:t>What is the distribution of race by gender?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Stacking</a:t>
            </a:r>
          </a:p>
          <a:p>
            <a:pPr lvl="0"/>
            <a:r>
              <a:rPr dirty="0"/>
              <a:t>By default, </a:t>
            </a:r>
            <a:r>
              <a:rPr dirty="0" err="1">
                <a:latin typeface="Courier"/>
              </a:rPr>
              <a:t>geom_bar</a:t>
            </a:r>
            <a:r>
              <a:rPr dirty="0"/>
              <a:t> would set </a:t>
            </a:r>
            <a:r>
              <a:rPr dirty="0">
                <a:latin typeface="Courier"/>
              </a:rPr>
              <a:t>position = 'stack'</a:t>
            </a:r>
            <a:r>
              <a:rPr dirty="0"/>
              <a:t>: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geom_bar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fill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"Sex"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AE5A-C5F0-14CA-FB8A-7BAA84BE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2A5C-E5EE-6012-AE6E-E3AEB345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dirty="0"/>
              <a:t>Plotting - Bars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20C0-953B-7FAB-CA37-5004AE39C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Histogram is one type of bar graph that shows frequency of observations.</a:t>
            </a:r>
          </a:p>
          <a:p>
            <a:pPr lvl="0"/>
            <a:r>
              <a:rPr dirty="0"/>
              <a:t>Bar graph are especially helpful for binary/categorical variables.</a:t>
            </a:r>
          </a:p>
          <a:p>
            <a:pPr lvl="1"/>
            <a:r>
              <a:rPr dirty="0"/>
              <a:t>Scatter and line plots might not work well for categorical variables.</a:t>
            </a:r>
          </a:p>
          <a:p>
            <a:pPr lvl="0"/>
            <a:r>
              <a:rPr dirty="0"/>
              <a:t>What is the distribution of race by gender?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Dodging</a:t>
            </a:r>
          </a:p>
          <a:p>
            <a:pPr lvl="0"/>
            <a:r>
              <a:rPr lang="en-US" dirty="0"/>
              <a:t>We can also put it side-by-side:</a:t>
            </a:r>
          </a:p>
          <a:p>
            <a:pPr lvl="0" indent="0">
              <a:buNone/>
            </a:pPr>
            <a:r>
              <a:rPr lang="en-US"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(</a:t>
            </a:r>
            <a:r>
              <a:rPr lang="en-US"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)</a:t>
            </a:r>
            <a:r>
              <a:rPr lang="en-US" dirty="0">
                <a:solidFill>
                  <a:srgbClr val="5E5E5E"/>
                </a:solidFill>
                <a:latin typeface="Courier"/>
              </a:rPr>
              <a:t>+</a:t>
            </a:r>
            <a:br>
              <a:rPr lang="en-US" dirty="0"/>
            </a:br>
            <a:r>
              <a:rPr lang="en-US" dirty="0">
                <a:solidFill>
                  <a:srgbClr val="003B4F"/>
                </a:solidFill>
                <a:latin typeface="Courier"/>
              </a:rPr>
              <a:t>  </a:t>
            </a:r>
            <a:r>
              <a:rPr lang="en-US" dirty="0" err="1">
                <a:solidFill>
                  <a:srgbClr val="4758AB"/>
                </a:solidFill>
                <a:latin typeface="Courier"/>
              </a:rPr>
              <a:t>geom_bar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(</a:t>
            </a:r>
            <a:r>
              <a:rPr lang="en-US"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(</a:t>
            </a:r>
            <a:r>
              <a:rPr lang="en-US" dirty="0">
                <a:solidFill>
                  <a:srgbClr val="657422"/>
                </a:solidFill>
                <a:latin typeface="Courier"/>
              </a:rPr>
              <a:t>x =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 </a:t>
            </a:r>
            <a:r>
              <a:rPr lang="en-US"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, </a:t>
            </a:r>
            <a:r>
              <a:rPr lang="en-US" dirty="0">
                <a:solidFill>
                  <a:srgbClr val="657422"/>
                </a:solidFill>
                <a:latin typeface="Courier"/>
              </a:rPr>
              <a:t>fill =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 </a:t>
            </a:r>
            <a:r>
              <a:rPr lang="en-US"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),</a:t>
            </a:r>
            <a:br>
              <a:rPr lang="en-US" dirty="0"/>
            </a:br>
            <a:r>
              <a:rPr lang="en-US" dirty="0">
                <a:solidFill>
                  <a:srgbClr val="003B4F"/>
                </a:solidFill>
                <a:latin typeface="Courier"/>
              </a:rPr>
              <a:t>           </a:t>
            </a:r>
            <a:r>
              <a:rPr lang="en-US" dirty="0">
                <a:solidFill>
                  <a:srgbClr val="657422"/>
                </a:solidFill>
                <a:latin typeface="Courier"/>
              </a:rPr>
              <a:t>position =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 </a:t>
            </a:r>
            <a:r>
              <a:rPr lang="en-US" dirty="0">
                <a:solidFill>
                  <a:srgbClr val="20794D"/>
                </a:solidFill>
                <a:latin typeface="Courier"/>
              </a:rPr>
              <a:t>'dodge'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)</a:t>
            </a:r>
            <a:r>
              <a:rPr lang="en-US" dirty="0">
                <a:solidFill>
                  <a:srgbClr val="5E5E5E"/>
                </a:solidFill>
                <a:latin typeface="Courier"/>
              </a:rPr>
              <a:t>+</a:t>
            </a:r>
            <a:br>
              <a:rPr lang="en-US" dirty="0"/>
            </a:br>
            <a:r>
              <a:rPr lang="en-US" dirty="0">
                <a:solidFill>
                  <a:srgbClr val="003B4F"/>
                </a:solidFill>
                <a:latin typeface="Courier"/>
              </a:rPr>
              <a:t>  </a:t>
            </a:r>
            <a:r>
              <a:rPr lang="en-US" dirty="0">
                <a:solidFill>
                  <a:srgbClr val="4758AB"/>
                </a:solidFill>
                <a:latin typeface="Courier"/>
              </a:rPr>
              <a:t>labs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(</a:t>
            </a:r>
            <a:r>
              <a:rPr lang="en-US" dirty="0">
                <a:solidFill>
                  <a:srgbClr val="657422"/>
                </a:solidFill>
                <a:latin typeface="Courier"/>
              </a:rPr>
              <a:t>x =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 </a:t>
            </a:r>
            <a:r>
              <a:rPr lang="en-US" dirty="0">
                <a:solidFill>
                  <a:srgbClr val="20794D"/>
                </a:solidFill>
                <a:latin typeface="Courier"/>
              </a:rPr>
              <a:t>"Sex"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, </a:t>
            </a:r>
            <a:r>
              <a:rPr lang="en-US" dirty="0">
                <a:solidFill>
                  <a:srgbClr val="657422"/>
                </a:solidFill>
                <a:latin typeface="Courier"/>
              </a:rPr>
              <a:t>y =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 </a:t>
            </a:r>
            <a:r>
              <a:rPr lang="en-US" dirty="0">
                <a:solidFill>
                  <a:srgbClr val="20794D"/>
                </a:solidFill>
                <a:latin typeface="Courier"/>
              </a:rPr>
              <a:t>"Count"</a:t>
            </a:r>
            <a:r>
              <a:rPr lang="en-US"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 dirty="0">
              <a:solidFill>
                <a:srgbClr val="003B4F"/>
              </a:solidFill>
              <a:latin typeface="Courier"/>
            </a:endParaRPr>
          </a:p>
          <a:p>
            <a:pPr marL="0" lvl="0" indent="0">
              <a:buNone/>
            </a:pPr>
            <a:endParaRPr dirty="0">
              <a:solidFill>
                <a:srgbClr val="003B4F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3413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Data wrangling to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One advantage of </a:t>
            </a:r>
            <a:r>
              <a:rPr dirty="0">
                <a:latin typeface="Courier"/>
              </a:rPr>
              <a:t>ggplot2</a:t>
            </a:r>
            <a:r>
              <a:rPr dirty="0"/>
              <a:t> is that it’s highly flexible.</a:t>
            </a:r>
          </a:p>
          <a:p>
            <a:pPr lvl="0"/>
            <a:r>
              <a:rPr dirty="0"/>
              <a:t>You can directly plot wrangled data without having to save it to another object.</a:t>
            </a:r>
          </a:p>
          <a:p>
            <a:pPr lvl="0"/>
            <a:r>
              <a:rPr dirty="0"/>
              <a:t>In this example, we will visualize the proportion of race (</a:t>
            </a:r>
            <a:r>
              <a:rPr dirty="0" err="1">
                <a:latin typeface="Courier"/>
              </a:rPr>
              <a:t>imprace</a:t>
            </a:r>
            <a:r>
              <a:rPr dirty="0"/>
              <a:t>) in each sex (</a:t>
            </a:r>
            <a:r>
              <a:rPr dirty="0" err="1">
                <a:latin typeface="Courier"/>
              </a:rPr>
              <a:t>sexvar</a:t>
            </a:r>
            <a:r>
              <a:rPr dirty="0"/>
              <a:t>).</a:t>
            </a:r>
          </a:p>
          <a:p>
            <a:pPr lvl="0"/>
            <a:r>
              <a:rPr dirty="0"/>
              <a:t>First, wrangle our individual-level data to show proportion of each race by sex.</a:t>
            </a:r>
          </a:p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group_by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summarise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num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n</a:t>
            </a:r>
            <a:r>
              <a:rPr dirty="0">
                <a:solidFill>
                  <a:srgbClr val="003B4F"/>
                </a:solidFill>
                <a:latin typeface="Courier"/>
              </a:rPr>
              <a:t>())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# calculate count by sex and race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ungroup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group_by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mutate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denom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sum</a:t>
            </a:r>
            <a:r>
              <a:rPr dirty="0">
                <a:solidFill>
                  <a:srgbClr val="003B4F"/>
                </a:solidFill>
                <a:latin typeface="Courier"/>
              </a:rPr>
              <a:t>(num), </a:t>
            </a:r>
            <a:r>
              <a:rPr dirty="0">
                <a:solidFill>
                  <a:srgbClr val="5E5E5E"/>
                </a:solidFill>
                <a:latin typeface="Courier"/>
              </a:rPr>
              <a:t># calculate count for all race by sex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</a:t>
            </a:r>
            <a:r>
              <a:rPr dirty="0">
                <a:solidFill>
                  <a:srgbClr val="657422"/>
                </a:solidFill>
                <a:latin typeface="Courier"/>
              </a:rPr>
              <a:t>proportion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round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AD0000"/>
                </a:solidFill>
                <a:latin typeface="Courier"/>
              </a:rPr>
              <a:t>100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 num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>
                <a:solidFill>
                  <a:srgbClr val="003B4F"/>
                </a:solidFill>
                <a:latin typeface="Courier"/>
              </a:rPr>
              <a:t>denom,</a:t>
            </a:r>
            <a:r>
              <a:rPr dirty="0">
                <a:solidFill>
                  <a:srgbClr val="AD0000"/>
                </a:solidFill>
                <a:latin typeface="Courier"/>
              </a:rPr>
              <a:t>2</a:t>
            </a:r>
            <a:r>
              <a:rPr dirty="0">
                <a:solidFill>
                  <a:srgbClr val="003B4F"/>
                </a:solidFill>
                <a:latin typeface="Courier"/>
              </a:rPr>
              <a:t>))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003B4F"/>
                </a:solidFill>
                <a:latin typeface="Courier"/>
              </a:rPr>
              <a:t>knitr</a:t>
            </a:r>
            <a:r>
              <a:rPr dirty="0">
                <a:solidFill>
                  <a:srgbClr val="5E5E5E"/>
                </a:solidFill>
                <a:latin typeface="Courier"/>
              </a:rPr>
              <a:t>::</a:t>
            </a:r>
            <a:r>
              <a:rPr dirty="0" err="1">
                <a:solidFill>
                  <a:srgbClr val="4758AB"/>
                </a:solidFill>
                <a:latin typeface="Courier"/>
              </a:rPr>
              <a:t>kable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18186"/>
              </p:ext>
            </p:extLst>
          </p:nvPr>
        </p:nvGraphicFramePr>
        <p:xfrm>
          <a:off x="847724" y="3205283"/>
          <a:ext cx="10502900" cy="31955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sexvar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imprace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denom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proportion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American Indian/Alaskan Native,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Another race,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Asian,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Black,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White,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177811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American Indian/Alaskan Native,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Another race,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Asian,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Black,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White,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154411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75.76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Data wrangling to visualization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Then, we use information from wrangled data for </a:t>
            </a:r>
            <a:r>
              <a:rPr dirty="0" err="1"/>
              <a:t>ggplot</a:t>
            </a:r>
            <a:r>
              <a:rPr dirty="0"/>
              <a:t>.</a:t>
            </a:r>
          </a:p>
          <a:p>
            <a:pPr lvl="0"/>
            <a:r>
              <a:rPr dirty="0"/>
              <a:t>Note that we’re using </a:t>
            </a:r>
            <a:r>
              <a:rPr dirty="0">
                <a:latin typeface="Courier"/>
              </a:rPr>
              <a:t>stat = 'identity'</a:t>
            </a:r>
            <a:r>
              <a:rPr dirty="0"/>
              <a:t> so that we’re plotting the value of a variable, instead of count of rows in the data.</a:t>
            </a:r>
          </a:p>
          <a:p>
            <a:pPr lvl="0" indent="0">
              <a:buNone/>
            </a:pP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group_by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summarise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num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n</a:t>
            </a:r>
            <a:r>
              <a:rPr dirty="0">
                <a:solidFill>
                  <a:srgbClr val="003B4F"/>
                </a:solidFill>
                <a:latin typeface="Courier"/>
              </a:rPr>
              <a:t>())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5E5E5E"/>
                </a:solidFill>
                <a:latin typeface="Courier"/>
              </a:rPr>
              <a:t># calculate count by sex and race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ungroup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group_by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mutate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denom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4758AB"/>
                </a:solidFill>
                <a:latin typeface="Courier"/>
              </a:rPr>
              <a:t>sum</a:t>
            </a:r>
            <a:r>
              <a:rPr dirty="0">
                <a:solidFill>
                  <a:srgbClr val="003B4F"/>
                </a:solidFill>
                <a:latin typeface="Courier"/>
              </a:rPr>
              <a:t>(num), </a:t>
            </a:r>
            <a:r>
              <a:rPr dirty="0">
                <a:solidFill>
                  <a:srgbClr val="5E5E5E"/>
                </a:solidFill>
                <a:latin typeface="Courier"/>
              </a:rPr>
              <a:t># calculate count for all race by sex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       </a:t>
            </a:r>
            <a:r>
              <a:rPr dirty="0">
                <a:solidFill>
                  <a:srgbClr val="657422"/>
                </a:solidFill>
                <a:latin typeface="Courier"/>
              </a:rPr>
              <a:t>proportion =</a:t>
            </a:r>
            <a:r>
              <a:rPr dirty="0">
                <a:solidFill>
                  <a:srgbClr val="003B4F"/>
                </a:solidFill>
                <a:latin typeface="Courier"/>
              </a:rPr>
              <a:t> num</a:t>
            </a:r>
            <a:r>
              <a:rPr dirty="0">
                <a:solidFill>
                  <a:srgbClr val="5E5E5E"/>
                </a:solidFill>
                <a:latin typeface="Courier"/>
              </a:rPr>
              <a:t>/</a:t>
            </a:r>
            <a:r>
              <a:rPr dirty="0" err="1">
                <a:solidFill>
                  <a:srgbClr val="003B4F"/>
                </a:solidFill>
                <a:latin typeface="Courier"/>
              </a:rPr>
              <a:t>denom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geom_bar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AD0000"/>
                </a:solidFill>
                <a:latin typeface="Courier"/>
              </a:rPr>
              <a:t>100</a:t>
            </a:r>
            <a:r>
              <a:rPr dirty="0">
                <a:solidFill>
                  <a:srgbClr val="5E5E5E"/>
                </a:solidFill>
                <a:latin typeface="Courier"/>
              </a:rPr>
              <a:t>*</a:t>
            </a:r>
            <a:r>
              <a:rPr dirty="0">
                <a:solidFill>
                  <a:srgbClr val="003B4F"/>
                </a:solidFill>
                <a:latin typeface="Courier"/>
              </a:rPr>
              <a:t>proportion, </a:t>
            </a:r>
            <a:r>
              <a:rPr dirty="0">
                <a:solidFill>
                  <a:srgbClr val="657422"/>
                </a:solidFill>
                <a:latin typeface="Courier"/>
              </a:rPr>
              <a:t>fill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>
                <a:solidFill>
                  <a:srgbClr val="657422"/>
                </a:solidFill>
                <a:latin typeface="Courier"/>
              </a:rPr>
              <a:t>stat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'identity'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B389-77B0-43B4-BAF3-5F656C20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D77D-8234-B94F-0CDB-B21A8821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Data wrangling to visualization</a:t>
            </a:r>
          </a:p>
        </p:txBody>
      </p:sp>
      <p:pic>
        <p:nvPicPr>
          <p:cNvPr id="3" name="Picture 1" descr="epi_514_data_visualization_files/figure-pptx/unnamed-chunk-25-1.png">
            <a:extLst>
              <a:ext uri="{FF2B5EF4-FFF2-40B4-BE49-F238E27FC236}">
                <a16:creationId xmlns:a16="http://schemas.microsoft.com/office/drawing/2014/main" id="{1236942D-58C4-A172-8B9C-82A6ABC3844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10FC16-FEA2-8BE6-2786-A9244A18D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71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Figure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dirty="0"/>
              <a:t>You may now want to polish your design a little bit.</a:t>
            </a:r>
          </a:p>
          <a:p>
            <a:pPr lvl="0"/>
            <a:r>
              <a:rPr dirty="0"/>
              <a:t>There are A LOT of formatting that needs to/can happen, but the important thing is that the purpose of plotting is to facilitate communication.</a:t>
            </a:r>
          </a:p>
          <a:p>
            <a:pPr lvl="1"/>
            <a:r>
              <a:rPr dirty="0"/>
              <a:t>No shortcut: Trial-and-error and exposing yourself to various ways of plotting are really the keys to become proficient.</a:t>
            </a:r>
          </a:p>
          <a:p>
            <a:pPr lvl="0"/>
            <a:r>
              <a:rPr dirty="0"/>
              <a:t>Which one makes more sense?</a:t>
            </a:r>
          </a:p>
          <a:p>
            <a:pPr marL="0" lvl="0" indent="0">
              <a:buNone/>
            </a:pPr>
            <a:endParaRPr dirty="0">
              <a:solidFill>
                <a:srgbClr val="003B4F"/>
              </a:solidFill>
              <a:latin typeface="Couri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CAA1-0C33-6F44-776B-82C35B5D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6CAF-C976-B356-19FA-6E5EBC81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Figure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4404-86E8-FFB4-0EC3-D5355AABD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Pastel2</a:t>
            </a:r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geom_bar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fill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'grey30'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"Sex"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"Option 1"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scale_fill_brewer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palette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'Pastel2'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name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"Race"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theme_bw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theme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legend.position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'right'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 dirty="0">
              <a:solidFill>
                <a:srgbClr val="003B4F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53841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6245-B424-F8DB-96F3-AC66193A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E744-4678-7D81-7FEB-0FDE456B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Figure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35B3F-8C22-EA18-B012-3CB96EDCF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b="1" dirty="0"/>
              <a:t>Blues</a:t>
            </a:r>
            <a:endParaRPr b="1" dirty="0"/>
          </a:p>
          <a:p>
            <a:pPr lvl="0" indent="0">
              <a:buNone/>
            </a:pPr>
            <a:r>
              <a:rPr dirty="0" err="1">
                <a:solidFill>
                  <a:srgbClr val="4758AB"/>
                </a:solidFill>
                <a:latin typeface="Courier"/>
              </a:rPr>
              <a:t>ggplot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003B4F"/>
                </a:solidFill>
                <a:latin typeface="Courier"/>
              </a:rPr>
              <a:t>brfss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geom_bar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4758AB"/>
                </a:solidFill>
                <a:latin typeface="Courier"/>
              </a:rPr>
              <a:t>aes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sexvar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fill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 err="1">
                <a:solidFill>
                  <a:srgbClr val="003B4F"/>
                </a:solidFill>
                <a:latin typeface="Courier"/>
              </a:rPr>
              <a:t>imprace</a:t>
            </a:r>
            <a:r>
              <a:rPr dirty="0">
                <a:solidFill>
                  <a:srgbClr val="003B4F"/>
                </a:solidFill>
                <a:latin typeface="Courier"/>
              </a:rPr>
              <a:t>), </a:t>
            </a:r>
            <a:r>
              <a:rPr dirty="0" err="1">
                <a:solidFill>
                  <a:srgbClr val="657422"/>
                </a:solidFill>
                <a:latin typeface="Courier"/>
              </a:rPr>
              <a:t>colour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'grey30'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labs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x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"Sex"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y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"Count"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title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"Option 2"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scale_fill_brewer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>
                <a:solidFill>
                  <a:srgbClr val="657422"/>
                </a:solidFill>
                <a:latin typeface="Courier"/>
              </a:rPr>
              <a:t>palette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'Blues'</a:t>
            </a:r>
            <a:r>
              <a:rPr dirty="0">
                <a:solidFill>
                  <a:srgbClr val="003B4F"/>
                </a:solidFill>
                <a:latin typeface="Courier"/>
              </a:rPr>
              <a:t>, </a:t>
            </a:r>
            <a:r>
              <a:rPr dirty="0">
                <a:solidFill>
                  <a:srgbClr val="657422"/>
                </a:solidFill>
                <a:latin typeface="Courier"/>
              </a:rPr>
              <a:t>name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"Race"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 err="1">
                <a:solidFill>
                  <a:srgbClr val="4758AB"/>
                </a:solidFill>
                <a:latin typeface="Courier"/>
              </a:rPr>
              <a:t>theme_bw</a:t>
            </a:r>
            <a:r>
              <a:rPr dirty="0">
                <a:solidFill>
                  <a:srgbClr val="003B4F"/>
                </a:solidFill>
                <a:latin typeface="Courier"/>
              </a:rPr>
              <a:t>()</a:t>
            </a:r>
            <a:r>
              <a:rPr dirty="0">
                <a:solidFill>
                  <a:srgbClr val="5E5E5E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solidFill>
                  <a:srgbClr val="003B4F"/>
                </a:solidFill>
                <a:latin typeface="Courier"/>
              </a:rPr>
              <a:t>  </a:t>
            </a:r>
            <a:r>
              <a:rPr dirty="0">
                <a:solidFill>
                  <a:srgbClr val="4758AB"/>
                </a:solidFill>
                <a:latin typeface="Courier"/>
              </a:rPr>
              <a:t>theme</a:t>
            </a:r>
            <a:r>
              <a:rPr dirty="0">
                <a:solidFill>
                  <a:srgbClr val="003B4F"/>
                </a:solidFill>
                <a:latin typeface="Courier"/>
              </a:rPr>
              <a:t>(</a:t>
            </a:r>
            <a:r>
              <a:rPr dirty="0" err="1">
                <a:solidFill>
                  <a:srgbClr val="657422"/>
                </a:solidFill>
                <a:latin typeface="Courier"/>
              </a:rPr>
              <a:t>legend.position</a:t>
            </a:r>
            <a:r>
              <a:rPr dirty="0">
                <a:solidFill>
                  <a:srgbClr val="657422"/>
                </a:solidFill>
                <a:latin typeface="Courier"/>
              </a:rPr>
              <a:t> =</a:t>
            </a:r>
            <a:r>
              <a:rPr dirty="0">
                <a:solidFill>
                  <a:srgbClr val="003B4F"/>
                </a:solidFill>
                <a:latin typeface="Courier"/>
              </a:rPr>
              <a:t> </a:t>
            </a:r>
            <a:r>
              <a:rPr dirty="0">
                <a:solidFill>
                  <a:srgbClr val="20794D"/>
                </a:solidFill>
                <a:latin typeface="Courier"/>
              </a:rPr>
              <a:t>'right'</a:t>
            </a:r>
            <a:r>
              <a:rPr dirty="0"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 dirty="0">
              <a:solidFill>
                <a:srgbClr val="003B4F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39767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Plotting - Figure formatting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lvl="0"/>
            <a:r>
              <a:t>Note that your upper layer will automatically override decisions.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(brfss)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'grey30'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scale_fill_brewer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'Blues'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"Race"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scale_fill_brewer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'Pastel2'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"Race"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'right'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id="3" name="Picture 1" descr="epi_514_data_visualization_files/figure-pptx/unnamed-chunk-28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11714" y="3993512"/>
            <a:ext cx="5150889" cy="257544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Other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Make sure you use color-blind friendly palette when using multiple colors.</a:t>
            </a:r>
          </a:p>
          <a:p>
            <a:pPr lvl="1"/>
            <a:r>
              <a:t>Estimates suggest that red/green color blindness affects approximately 8% of males and around 0.5% of females of Northern European descent.</a:t>
            </a:r>
          </a:p>
          <a:p>
            <a:pPr lvl="0"/>
            <a:r>
              <a:t>Colors on other screens (esp. projectors!!) can look different than your laptop screen:</a:t>
            </a:r>
          </a:p>
          <a:p>
            <a:pPr lvl="1"/>
            <a:r>
              <a:t>Make sure you have enough contrast between colors so that the audience can still detect the difference even if the color slightly fades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are the problems?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Based on what we learned so far, discuss potential problems with this chart with your table members</a:t>
            </a:r>
          </a:p>
        </p:txBody>
      </p:sp>
      <p:pic>
        <p:nvPicPr>
          <p:cNvPr id="3" name="Picture 1" descr="epi_514_data_visualization_files/figure-pptx/unnamed-chunk-29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are the problems?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Based on what we learned so far, discuss potential problems with this chart with your table members</a:t>
            </a:r>
          </a:p>
        </p:txBody>
      </p:sp>
      <p:pic>
        <p:nvPicPr>
          <p:cNvPr id="3" name="Picture 1" descr="epi_514_data_visualization_files/figure-pptx/unnamed-chunk-3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2438400"/>
            <a:ext cx="68326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8E45-0772-954C-8D4B-6E6808D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Useful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24F9-04F1-C843-9D71-56C5C0245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CS&amp;SS 569 Visualizing Data and Models</a:t>
            </a:r>
          </a:p>
          <a:p>
            <a:pPr lvl="1"/>
            <a:r>
              <a:t>Course website has great learning materials and practice sets</a:t>
            </a:r>
          </a:p>
          <a:p>
            <a:pPr lvl="1"/>
            <a:r>
              <a:rPr>
                <a:hlinkClick r:id="rId2"/>
              </a:rPr>
              <a:t>Link to website</a:t>
            </a:r>
          </a:p>
          <a:p>
            <a:pPr lvl="0"/>
            <a:r>
              <a:t>ggplot2 package document: </a:t>
            </a:r>
            <a:r>
              <a:rPr>
                <a:hlinkClick r:id="rId3"/>
              </a:rPr>
              <a:t>link</a:t>
            </a:r>
          </a:p>
          <a:p>
            <a:pPr lvl="0"/>
            <a:r>
              <a:t>ggplot2 cheatsheet: </a:t>
            </a:r>
            <a:r>
              <a:rPr>
                <a:hlinkClick r:id="rId4"/>
              </a:rPr>
              <a:t>link</a:t>
            </a:r>
          </a:p>
          <a:p>
            <a:pPr lvl="0"/>
            <a:r>
              <a:t>Stackoverflow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6003-B489-CA46-A95C-C1AECC0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974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BA411-2A54-A94A-B3FC-826281DBE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Talk to your neighbors - what questions do you have?</a:t>
            </a:r>
          </a:p>
        </p:txBody>
      </p:sp>
      <p:pic>
        <p:nvPicPr>
          <p:cNvPr id="3" name="Picture 1" descr="images/Neta1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13300" y="2438400"/>
            <a:ext cx="256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Cosmic Lat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mic Latte" id="{689C1CBC-A372-ED4C-A38C-441AC706A1A4}" vid="{44785AA0-04C0-4846-AC8A-8123607AC8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3134</Words>
  <Application>Microsoft Macintosh PowerPoint</Application>
  <PresentationFormat>Widescreen</PresentationFormat>
  <Paragraphs>259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Courier</vt:lpstr>
      <vt:lpstr>ENCODE SANS NARROW MEDIUM</vt:lpstr>
      <vt:lpstr>Open Sans</vt:lpstr>
      <vt:lpstr>Rockwell</vt:lpstr>
      <vt:lpstr>Trebuchet MS</vt:lpstr>
      <vt:lpstr>Cosmic Latte</vt:lpstr>
      <vt:lpstr>Data Visualization</vt:lpstr>
      <vt:lpstr>Agenda</vt:lpstr>
      <vt:lpstr>Principles of data visualization</vt:lpstr>
      <vt:lpstr>What are the problems?</vt:lpstr>
      <vt:lpstr>What can be the solution?</vt:lpstr>
      <vt:lpstr>What are the problems?</vt:lpstr>
      <vt:lpstr>Principles of data visualization</vt:lpstr>
      <vt:lpstr>Visualization for publication</vt:lpstr>
      <vt:lpstr>Visualization for publication</vt:lpstr>
      <vt:lpstr>Introduction to ggplot2 package</vt:lpstr>
      <vt:lpstr>Installing and loading ggplot2</vt:lpstr>
      <vt:lpstr>Example - Loading data</vt:lpstr>
      <vt:lpstr>Plotting - Histogram</vt:lpstr>
      <vt:lpstr>Plotting - Histogram</vt:lpstr>
      <vt:lpstr>Plotting - Histogram</vt:lpstr>
      <vt:lpstr>Plotting - Histogram</vt:lpstr>
      <vt:lpstr>Plotting - Histogram</vt:lpstr>
      <vt:lpstr>Plotting - Histogram</vt:lpstr>
      <vt:lpstr>Plotting - Histogram</vt:lpstr>
      <vt:lpstr>Plotting - Scatter</vt:lpstr>
      <vt:lpstr>Plotting - Scatter</vt:lpstr>
      <vt:lpstr>Plotting - Scatter</vt:lpstr>
      <vt:lpstr>Plotting - Scatter</vt:lpstr>
      <vt:lpstr>Plotting - Scatter</vt:lpstr>
      <vt:lpstr>Plotting - Scatter</vt:lpstr>
      <vt:lpstr>Plotting - Scatter</vt:lpstr>
      <vt:lpstr>Plotting - Scatter</vt:lpstr>
      <vt:lpstr>Plotting - Scatter</vt:lpstr>
      <vt:lpstr>Plotting - Scatter</vt:lpstr>
      <vt:lpstr>Which one did you like the most?</vt:lpstr>
      <vt:lpstr>Plotting - Line</vt:lpstr>
      <vt:lpstr>Plotting - Bars</vt:lpstr>
      <vt:lpstr>Plotting - Bars</vt:lpstr>
      <vt:lpstr>Data wrangling to visualization</vt:lpstr>
      <vt:lpstr>Data wrangling to visualization</vt:lpstr>
      <vt:lpstr>Data wrangling to visualization</vt:lpstr>
      <vt:lpstr>Plotting - Figure formatting</vt:lpstr>
      <vt:lpstr>Plotting - Figure formatting</vt:lpstr>
      <vt:lpstr>Plotting - Figure formatting</vt:lpstr>
      <vt:lpstr>Plotting - Figure formatting</vt:lpstr>
      <vt:lpstr>Other considerations</vt:lpstr>
      <vt:lpstr>What are the problems?</vt:lpstr>
      <vt:lpstr>What are the problems?</vt:lpstr>
      <vt:lpstr>Useful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38</TotalTime>
  <Words>66</Words>
  <Application>Microsoft Macintosh PowerPoint</Application>
  <PresentationFormat>Widescreen</PresentationFormat>
  <Paragraphs>18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ENCODE SANS NARROW MEDIUM</vt:lpstr>
      <vt:lpstr>Open Sans</vt:lpstr>
      <vt:lpstr>Rockwell</vt:lpstr>
      <vt:lpstr>Trebuchet MS</vt:lpstr>
      <vt:lpstr>Cosmic Latte</vt:lpstr>
      <vt:lpstr>Slides 1</vt:lpstr>
      <vt:lpstr>Test 1</vt:lpstr>
      <vt:lpstr>Test 2 Sub heading</vt:lpstr>
      <vt:lpstr>New slide</vt:lpstr>
      <vt:lpstr>Incremental Lists</vt:lpstr>
      <vt:lpstr>Speaker Notes</vt:lpstr>
      <vt:lpstr>Columns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Julie Kim</dc:creator>
  <cp:keywords/>
  <cp:lastModifiedBy>Julie Kim</cp:lastModifiedBy>
  <cp:revision>2</cp:revision>
  <dcterms:created xsi:type="dcterms:W3CDTF">2025-05-22T18:29:59Z</dcterms:created>
  <dcterms:modified xsi:type="dcterms:W3CDTF">2025-05-22T18:36:11Z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2025-05-22</vt:lpwstr>
  </property>
  <property fmtid="{D5CDD505-2E9C-101B-9397-08002B2CF9AE}" pid="6" name="editor">
    <vt:lpwstr>visual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EPI 514 2025 Sp</vt:lpwstr>
  </property>
  <property fmtid="{D5CDD505-2E9C-101B-9397-08002B2CF9AE}" pid="12" name="toc-title">
    <vt:lpwstr>Table of contents</vt:lpwstr>
  </property>
</Properties>
</file>