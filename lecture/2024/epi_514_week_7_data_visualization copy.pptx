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4678" autoAdjust="0"/>
  </p:normalViewPr>
  <p:slideViewPr>
    <p:cSldViewPr snapToGrid="0" snapToObjects="1">
      <p:cViewPr varScale="1">
        <p:scale>
          <a:sx n="157" d="100"/>
          <a:sy n="157" d="100"/>
        </p:scale>
        <p:origin x="560" y="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gplot2/ggplot2.pdf" TargetMode="External"/><Relationship Id="rId2" Type="http://schemas.openxmlformats.org/officeDocument/2006/relationships/hyperlink" Target="https://faculty.washington.edu/cadolph/index.php?page=2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studio/cheatsheets/blob/main/data-visualization.pdf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EPI 514 2024 Sp</a:t>
            </a:r>
            <a:br/>
            <a:br/>
            <a:r>
              <a:t>Julie Kim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2024-05-09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Principles of data visualization</a:t>
            </a:r>
          </a:p>
          <a:p>
            <a:pPr lvl="0"/>
            <a:r>
              <a:rPr dirty="0"/>
              <a:t>Introduction to </a:t>
            </a:r>
            <a:r>
              <a:rPr dirty="0">
                <a:latin typeface="Courier"/>
              </a:rPr>
              <a:t>ggplot2</a:t>
            </a:r>
            <a:r>
              <a:rPr dirty="0"/>
              <a:t> package</a:t>
            </a:r>
          </a:p>
          <a:p>
            <a:pPr lvl="0"/>
            <a:r>
              <a:rPr dirty="0"/>
              <a:t>Exercise using </a:t>
            </a:r>
            <a:r>
              <a:rPr>
                <a:latin typeface="Courier"/>
              </a:rPr>
              <a:t>ggplot2</a:t>
            </a:r>
            <a:r>
              <a:t> packag</a:t>
            </a:r>
            <a:r>
              <a:rPr lang="en-US"/>
              <a:t>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Principles of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Five principles of scientific visualization laid out by Edward Tufte (1983)</a:t>
            </a:r>
          </a:p>
          <a:p>
            <a:pPr lvl="1"/>
            <a:r>
              <a:t>Avoid chartjunk</a:t>
            </a:r>
          </a:p>
          <a:p>
            <a:pPr lvl="1"/>
            <a:r>
              <a:t>Maximize data, minimize ink and space</a:t>
            </a:r>
          </a:p>
          <a:p>
            <a:pPr lvl="1"/>
            <a:r>
              <a:t>Avoid distortions, minimize lie factors</a:t>
            </a:r>
          </a:p>
          <a:p>
            <a:pPr lvl="1"/>
            <a:r>
              <a:t>Show the data and facilitate comparison</a:t>
            </a:r>
          </a:p>
          <a:p>
            <a:pPr lvl="1"/>
            <a:r>
              <a:t>Small multiples or repetitions of basic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Principles of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My advice:</a:t>
            </a:r>
          </a:p>
          <a:p>
            <a:pPr lvl="0"/>
            <a:r>
              <a:t>Be NICE to your viewers - never assume people will know what you’re trying to show.</a:t>
            </a:r>
          </a:p>
          <a:p>
            <a:pPr lvl="1"/>
            <a:r>
              <a:t>ALWAYS include axis titles in plain text (not variable name) and it’s scale</a:t>
            </a:r>
          </a:p>
          <a:p>
            <a:pPr lvl="1"/>
            <a:r>
              <a:t>Include detailed captions - captions should be self-explanatory</a:t>
            </a:r>
          </a:p>
          <a:p>
            <a:pPr lvl="0"/>
            <a:r>
              <a:t>Think about the morale of the story before you plot.</a:t>
            </a:r>
          </a:p>
          <a:p>
            <a:pPr lvl="1"/>
            <a:r>
              <a:t>Many journals only allow 4-6 tables + figures in the main text - be strategic about what you want to show.</a:t>
            </a:r>
          </a:p>
          <a:p>
            <a:pPr lvl="0"/>
            <a:r>
              <a:t>Visualization is a way of simplifying</a:t>
            </a:r>
          </a:p>
          <a:p>
            <a:pPr lvl="1"/>
            <a:r>
              <a:t>While some levels of granularity are important for readers to know, figure should be understandable.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Visualization for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Format</a:t>
            </a:r>
          </a:p>
          <a:p>
            <a:pPr lvl="1"/>
            <a:r>
              <a:t>4-5 figures and tables: Make sure you reference all figures/tables in the main text.</a:t>
            </a:r>
          </a:p>
          <a:p>
            <a:pPr lvl="1"/>
            <a:r>
              <a:t>It might be something that people only read other than your titles - think about the priorities.</a:t>
            </a:r>
          </a:p>
          <a:p>
            <a:pPr lvl="1"/>
            <a:r>
              <a:t>Most journals want vectorized image (vectorized pdf, svg, eps, adobe illustrator)</a:t>
            </a:r>
          </a:p>
          <a:p>
            <a:pPr lvl="2"/>
            <a:r>
              <a:t>jpeg/jpg, png, etc are sometimes permitted for initial submission, but eventually vectorized image can be required.</a:t>
            </a:r>
          </a:p>
          <a:p>
            <a:pPr lvl="1"/>
            <a:r>
              <a:t>Reviewers comment a lot about image quality, captions, choice of colors and axis labels/scale/titles.</a:t>
            </a:r>
          </a:p>
          <a:p>
            <a:pPr lvl="2"/>
            <a:r>
              <a:t>If image quality is too low, it might appear blurry in your paper.</a:t>
            </a:r>
          </a:p>
          <a:p>
            <a:pPr lvl="2"/>
            <a:r>
              <a:t>Provide details for caption - add details even if you included in your main text.</a:t>
            </a:r>
          </a:p>
          <a:p>
            <a:pPr lvl="2"/>
            <a:r>
              <a:t>Colors - it’s not about making it pretty</a:t>
            </a:r>
          </a:p>
          <a:p>
            <a:pPr lvl="3"/>
            <a:r>
              <a:t>Also consider “intuitiveness” of colors.</a:t>
            </a:r>
          </a:p>
          <a:p>
            <a:pPr lvl="2"/>
            <a:r>
              <a:t>Axis labels, scale and titles should be detailed as long as it doesn’t hurt your figure</a:t>
            </a:r>
          </a:p>
          <a:p>
            <a:pPr lvl="3"/>
            <a:r>
              <a:t>If using multiple panes in one figure, be consistent with the scales</a:t>
            </a:r>
          </a:p>
          <a:p>
            <a:pPr lvl="1"/>
            <a:r>
              <a:t>Many journals now allow supplementary materials</a:t>
            </a:r>
          </a:p>
          <a:p>
            <a:pPr lvl="2"/>
            <a:r>
              <a:t>Any sensitivity analysis or background analysis (e.g. describing the sample that is not directly related to your main analysis) typically goes into supplementary figures.</a:t>
            </a:r>
          </a:p>
          <a:p>
            <a:pPr lvl="2"/>
            <a:r>
              <a:t>Validation (e.g. comparison to other data sources) also goes into supplementary materials.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to ggplot2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Popular R package for data visualization, particularly well-known for its implementation of the “Grammar of Graphics.”</a:t>
            </a:r>
          </a:p>
          <a:p>
            <a:pPr lvl="0"/>
            <a:r>
              <a:t>Allows layering of plots</a:t>
            </a:r>
          </a:p>
          <a:p>
            <a:pPr lvl="0"/>
            <a:r>
              <a:t>High formatting flexibility</a:t>
            </a:r>
          </a:p>
          <a:p>
            <a:pPr lvl="1"/>
            <a:r>
              <a:t>which also means lots of chances to go wrong</a:t>
            </a:r>
          </a:p>
          <a:p>
            <a:pPr lvl="0"/>
            <a:r>
              <a:t>WIDE variety of visualization options (from scatter plots to maps and 3D plots)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Installing and loading ggplot2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Installation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if 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require</a:t>
            </a:r>
            <a:r>
              <a:rPr>
                <a:solidFill>
                  <a:srgbClr val="003B4F"/>
                </a:solidFill>
                <a:latin typeface="Courier"/>
              </a:rPr>
              <a:t>(ggplot2) </a:t>
            </a: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'ggplot2'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/>
            <a:r>
              <a:t>Load package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</a:p>
          <a:p>
            <a:pPr lvl="0"/>
            <a:r>
              <a:rPr>
                <a:latin typeface="Courier"/>
              </a:rPr>
              <a:t>ggplot2</a:t>
            </a:r>
            <a:r>
              <a:t> is part of </a:t>
            </a:r>
            <a:r>
              <a:rPr>
                <a:latin typeface="Courier"/>
              </a:rPr>
              <a:t>tidyverse</a:t>
            </a:r>
            <a:r>
              <a:t> package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syntax of </a:t>
            </a:r>
            <a:r>
              <a:rPr>
                <a:latin typeface="Courier"/>
              </a:rPr>
              <a:t>ggplot2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your_data,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x_axis_variable,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y_axis_variable))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size_of_the_point,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t>Arguments that are needed: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data</a:t>
            </a:r>
          </a:p>
          <a:p>
            <a:pPr lvl="0"/>
            <a:r>
              <a:rPr>
                <a:latin typeface="Courier"/>
              </a:rPr>
              <a:t>data</a:t>
            </a:r>
            <a:r>
              <a:t>: data to visualize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mapping</a:t>
            </a:r>
          </a:p>
          <a:p>
            <a:pPr lvl="0"/>
            <a:r>
              <a:rPr>
                <a:latin typeface="Courier"/>
              </a:rPr>
              <a:t>mapping</a:t>
            </a:r>
            <a:r>
              <a:t>: takes </a:t>
            </a:r>
            <a:r>
              <a:rPr>
                <a:latin typeface="Courier"/>
              </a:rPr>
              <a:t>aes</a:t>
            </a:r>
            <a:r>
              <a:t> (short for aesthetics)</a:t>
            </a:r>
          </a:p>
          <a:p>
            <a:pPr lvl="1"/>
            <a:r>
              <a:t>arguments that goes into </a:t>
            </a:r>
            <a:r>
              <a:rPr>
                <a:latin typeface="Courier"/>
              </a:rPr>
              <a:t>aes</a:t>
            </a:r>
            <a:r>
              <a:t> - whatever you can specify with variables in your data</a:t>
            </a:r>
          </a:p>
          <a:p>
            <a:pPr lvl="2"/>
            <a:r>
              <a:t>x-axis, y-axis : required most of the times</a:t>
            </a:r>
          </a:p>
          <a:p>
            <a:pPr lvl="2"/>
            <a:r>
              <a:t>color/fill: only if you’re using variable to specify (color for points, fill for area)</a:t>
            </a:r>
          </a:p>
          <a:p>
            <a:pPr lvl="2"/>
            <a:r>
              <a:t>xmin, xmax, ymin, ymax: if you’re specifying area</a:t>
            </a:r>
          </a:p>
          <a:p>
            <a:pPr lvl="2"/>
            <a:r>
              <a:t>and many other required and optional arguments specific for type (</a:t>
            </a:r>
            <a:r>
              <a:rPr>
                <a:latin typeface="Courier"/>
              </a:rPr>
              <a:t>geom</a:t>
            </a:r>
            <a:r>
              <a:t>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geom</a:t>
            </a:r>
          </a:p>
          <a:p>
            <a:pPr lvl="0"/>
            <a:r>
              <a:rPr>
                <a:latin typeface="Courier"/>
              </a:rPr>
              <a:t>geom</a:t>
            </a:r>
            <a:r>
              <a:t>: short for geometry - specify type of plot</a:t>
            </a:r>
          </a:p>
          <a:p>
            <a:pPr lvl="1"/>
            <a:r>
              <a:t>e.g. </a:t>
            </a:r>
            <a:r>
              <a:rPr>
                <a:latin typeface="Courier"/>
              </a:rPr>
              <a:t>geom_point</a:t>
            </a:r>
            <a:r>
              <a:t> for scatter plot, </a:t>
            </a:r>
            <a:r>
              <a:rPr>
                <a:latin typeface="Courier"/>
              </a:rPr>
              <a:t>geom_line</a:t>
            </a:r>
            <a:r>
              <a:t> for line plots, </a:t>
            </a:r>
            <a:r>
              <a:rPr>
                <a:latin typeface="Courier"/>
              </a:rPr>
              <a:t>geom_histogram</a:t>
            </a:r>
            <a:r>
              <a:t> for historgram</a:t>
            </a:r>
          </a:p>
          <a:p>
            <a:pPr lvl="1"/>
            <a:r>
              <a:t>Different geometry components require different argument</a:t>
            </a:r>
          </a:p>
          <a:p>
            <a:pPr lvl="2"/>
            <a:r>
              <a:t>e.g. </a:t>
            </a:r>
            <a:r>
              <a:rPr>
                <a:latin typeface="Courier"/>
              </a:rPr>
              <a:t>geom_ribbon</a:t>
            </a:r>
            <a:r>
              <a:t> allows you to plot area - this requires (</a:t>
            </a:r>
            <a:r>
              <a:rPr>
                <a:latin typeface="Courier"/>
              </a:rPr>
              <a:t>xmin</a:t>
            </a:r>
            <a:r>
              <a:t> and </a:t>
            </a:r>
            <a:r>
              <a:rPr>
                <a:latin typeface="Courier"/>
              </a:rPr>
              <a:t>xmax</a:t>
            </a:r>
            <a:r>
              <a:t> or </a:t>
            </a:r>
            <a:r>
              <a:rPr>
                <a:latin typeface="Courier"/>
              </a:rPr>
              <a:t>ymin</a:t>
            </a:r>
            <a:r>
              <a:t> and </a:t>
            </a:r>
            <a:r>
              <a:rPr>
                <a:latin typeface="Courier"/>
              </a:rPr>
              <a:t>ymax</a:t>
            </a:r>
            <a: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- Loading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Let’s dive directly into some examples. We will use our data after cleaning from the individual assignments for this exercise.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(ggpubr)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brfss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"/Users/sojink/Documents/GitHub/epi_514_data_viz/data/individualhw_post.csv"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Change directory and filename to your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Say we want to look at the distribution of </a:t>
            </a:r>
            <a:r>
              <a:rPr>
                <a:latin typeface="Courier"/>
              </a:rPr>
              <a:t>avedrnk3</a:t>
            </a:r>
            <a:r>
              <a:t> variable in our data.</a:t>
            </a:r>
          </a:p>
          <a:p>
            <a:pPr lvl="0"/>
            <a:r>
              <a:t>Do you see any problem here?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id="3" name="Picture 1" descr="epi_514_week_7_data_visualization-copy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Many of us might know what </a:t>
            </a:r>
            <a:r>
              <a:rPr>
                <a:latin typeface="Courier"/>
              </a:rPr>
              <a:t>avedrnk3</a:t>
            </a:r>
            <a:r>
              <a:t> means, but your readers/preceptors don’t know what it means.</a:t>
            </a:r>
          </a:p>
          <a:p>
            <a:pPr lvl="0"/>
            <a:r>
              <a:t>We will specify axis titles using </a:t>
            </a:r>
            <a:r>
              <a:rPr>
                <a:latin typeface="Courier"/>
              </a:rPr>
              <a:t>labs</a:t>
            </a:r>
            <a:r>
              <a:t> layer.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Option 1</a:t>
            </a:r>
          </a:p>
          <a:p>
            <a:pPr lvl="0"/>
            <a:r>
              <a:t>If you put </a:t>
            </a:r>
            <a:r>
              <a:rPr>
                <a:latin typeface="Courier"/>
              </a:rPr>
              <a:t>data</a:t>
            </a:r>
            <a:r>
              <a:t> and </a:t>
            </a:r>
            <a:r>
              <a:rPr>
                <a:latin typeface="Courier"/>
              </a:rPr>
              <a:t>mapping</a:t>
            </a:r>
            <a:r>
              <a:t> arguments into </a:t>
            </a:r>
            <a:r>
              <a:rPr>
                <a:latin typeface="Courier"/>
              </a:rPr>
              <a:t>ggplot()</a:t>
            </a:r>
            <a:r>
              <a:t>, it will automatically inherit to all layers below (</a:t>
            </a:r>
            <a:r>
              <a:rPr>
                <a:latin typeface="Courier"/>
              </a:rPr>
              <a:t>geom_histogram</a:t>
            </a:r>
            <a:r>
              <a:t> in this case).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average alcoholic drinks per day (on days when drank) in past 30"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"Source: BRFSS 2021"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>
              <a:solidFill>
                <a:srgbClr val="003B4F"/>
              </a:solidFill>
              <a:latin typeface="Courier"/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Option 2</a:t>
            </a:r>
          </a:p>
          <a:p>
            <a:pPr lvl="0"/>
            <a:r>
              <a:t>Both </a:t>
            </a:r>
            <a:r>
              <a:rPr>
                <a:latin typeface="Courier"/>
              </a:rPr>
              <a:t>data</a:t>
            </a:r>
            <a:r>
              <a:t> and </a:t>
            </a:r>
            <a:r>
              <a:rPr>
                <a:latin typeface="Courier"/>
              </a:rPr>
              <a:t>mapping</a:t>
            </a:r>
            <a:r>
              <a:t> arguments can go into geometry argument (</a:t>
            </a:r>
            <a:r>
              <a:rPr>
                <a:latin typeface="Courier"/>
              </a:rPr>
              <a:t>geom_histogram</a:t>
            </a:r>
            <a:r>
              <a:t> in this case) too</a:t>
            </a:r>
          </a:p>
          <a:p>
            <a:pPr lvl="1"/>
            <a:r>
              <a:t>But note that this will only apply to the geometry you’re specifying (more examples coming)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alcohol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"Source: BRFSS 2021"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Histogram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It’s difficult to read some numbers in the axis because the numbers are too sparse.</a:t>
            </a:r>
          </a:p>
          <a:p>
            <a:pPr lvl="0"/>
            <a:r>
              <a:t>We will add more numbers using:</a:t>
            </a:r>
          </a:p>
          <a:p>
            <a:pPr lvl="1"/>
            <a:r>
              <a:rPr>
                <a:latin typeface="Courier"/>
              </a:rPr>
              <a:t>scale_x_continuous</a:t>
            </a:r>
            <a:r>
              <a:t>: for x-axis labels</a:t>
            </a:r>
          </a:p>
          <a:p>
            <a:pPr lvl="1"/>
            <a:r>
              <a:rPr>
                <a:latin typeface="Courier"/>
              </a:rPr>
              <a:t>scale_y_continuous</a:t>
            </a:r>
            <a:r>
              <a:t>: for y-axis labels</a:t>
            </a:r>
          </a:p>
          <a:p>
            <a:pPr lvl="1"/>
            <a:r>
              <a:t>argument: </a:t>
            </a:r>
            <a:r>
              <a:rPr>
                <a:latin typeface="Courier"/>
              </a:rPr>
              <a:t>breaks</a:t>
            </a:r>
            <a:r>
              <a:t> to specify values for axis breaks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"Number of drinks per day"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 of individuals"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"Distribution of alcohol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"Source: BRFSS 2021"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scale_y_continuous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90000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10000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pic>
        <p:nvPicPr>
          <p:cNvPr id="3" name="Picture 1" descr="epi_514_week_7_data_visualization-copy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Now, we will start looking at the relationship between variables.</a:t>
            </a:r>
          </a:p>
          <a:p>
            <a:pPr lvl="0"/>
            <a:r>
              <a:t>Say we want to look at the relationship between </a:t>
            </a:r>
            <a:r>
              <a:rPr>
                <a:latin typeface="Courier"/>
              </a:rPr>
              <a:t>avedrnk3</a:t>
            </a:r>
            <a:r>
              <a:t> and </a:t>
            </a:r>
            <a:r>
              <a:rPr>
                <a:latin typeface="Courier"/>
              </a:rPr>
              <a:t>marijan1</a:t>
            </a:r>
            <a:r>
              <a:t>.</a:t>
            </a:r>
          </a:p>
          <a:p>
            <a:pPr lvl="0"/>
            <a:r>
              <a:t>Any problems here?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alcday30,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alcoholic drinks per day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304076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After looking at this plot, you start wondering how this relationship differs between male and female.</a:t>
            </a:r>
          </a:p>
          <a:p>
            <a:pPr lvl="0"/>
            <a:r>
              <a:t>One option of doing this could be creating the same plot but separately for male and female.</a:t>
            </a:r>
          </a:p>
          <a:p>
            <a:pPr lvl="0"/>
            <a:r>
              <a:t>To do this, we can add </a:t>
            </a:r>
            <a:r>
              <a:rPr>
                <a:latin typeface="Courier"/>
              </a:rPr>
              <a:t>facet_wrap</a:t>
            </a:r>
            <a:r>
              <a:t> layer on top of it.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alcday30,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alcoholic drinks per day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304076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Now you wonder: how old are they?</a:t>
            </a:r>
          </a:p>
          <a:p>
            <a:pPr lvl="0"/>
            <a:r>
              <a:t>One option to do this could be repeating faceting but also by age.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alcday30,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alcoholic drinks per day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(sexvar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age_g,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304076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Now you wonder how old are they?</a:t>
            </a:r>
          </a:p>
          <a:p>
            <a:pPr lvl="0"/>
            <a:r>
              <a:t>Another option could be using the color instead of creating 12 panes of plots.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alcday30,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marijan1,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age_g))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alcoholic drinks per day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"Days of 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304076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If the journal your submitting to required black/white-only figures, you can do this using the shape of the points instead of colors.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alcday30,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age_g))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number of drinking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304076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Scatter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One last thing - it’s actually pretty difficult to read the axis titles and texts because the font size is too small.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age_g))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number of drinking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# for facet titles</a:t>
            </a:r>
          </a:p>
          <a:p>
            <a:pPr lvl="0" indent="0">
              <a:buNone/>
            </a:pPr>
            <a:r>
              <a:rPr>
                <a:latin typeface="Courier"/>
              </a:rPr>
              <a:t>Warning: Removed 369986 rows containing missing values (`geom_point()`).</a:t>
            </a:r>
          </a:p>
        </p:txBody>
      </p:sp>
      <p:pic>
        <p:nvPicPr>
          <p:cNvPr id="3" name="Picture 1" descr="epi_514_week_7_data_visualization-copy_files/figure-pptx/unnamed-chunk-1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Which one do you like the most?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Plotting -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</a:t>
            </a:r>
            <a:r>
              <a:rPr>
                <a:latin typeface="Courier"/>
              </a:rPr>
              <a:t>geom_line()</a:t>
            </a:r>
            <a:r>
              <a:t> instead of </a:t>
            </a:r>
            <a:r>
              <a:rPr>
                <a:latin typeface="Courier"/>
              </a:rPr>
              <a:t>geom_point()</a:t>
            </a:r>
            <a:r>
              <a:t> for line plots.</a:t>
            </a:r>
          </a:p>
          <a:p>
            <a:pPr lvl="0"/>
            <a:r>
              <a:t>Helpful for visualizing time-trends or relationships.</a:t>
            </a:r>
          </a:p>
          <a:p>
            <a:pPr lvl="0"/>
            <a:r>
              <a:t>Example: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brfss, 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avedrnk3,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marijan1,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age_g))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"Average number of drinking days"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"Marijuana use"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sexvar)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# for facet titles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Plotting -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Histogram is one type of bar graph that shows frequency of observations.</a:t>
            </a:r>
          </a:p>
          <a:p>
            <a:pPr lvl="0"/>
            <a:r>
              <a:t>Bar graph are especially helpful for binary/categorical variables.</a:t>
            </a:r>
          </a:p>
          <a:p>
            <a:pPr lvl="1"/>
            <a:r>
              <a:t>Scatter and line plots might not work well for categorical variables.</a:t>
            </a:r>
          </a:p>
          <a:p>
            <a:pPr lvl="0"/>
            <a:r>
              <a:t>What is the distribution of race by gender?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Stacking</a:t>
            </a:r>
          </a:p>
          <a:p>
            <a:pPr lvl="0"/>
            <a:r>
              <a:t>By default, </a:t>
            </a:r>
            <a:r>
              <a:rPr>
                <a:latin typeface="Courier"/>
              </a:rPr>
              <a:t>geom_bar</a:t>
            </a:r>
            <a:r>
              <a:t> would set </a:t>
            </a:r>
            <a:r>
              <a:rPr>
                <a:latin typeface="Courier"/>
              </a:rPr>
              <a:t>position = 'stack'</a:t>
            </a:r>
            <a:r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>
              <a:solidFill>
                <a:srgbClr val="003B4F"/>
              </a:solidFill>
              <a:latin typeface="Courier"/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Dodging</a:t>
            </a:r>
          </a:p>
          <a:p>
            <a:pPr lvl="0"/>
            <a:r>
              <a:t>We can also put it side-by-side: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'dodge'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>
              <a:solidFill>
                <a:srgbClr val="003B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 wrangling to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One advantage of </a:t>
            </a:r>
            <a:r>
              <a:rPr>
                <a:latin typeface="Courier"/>
              </a:rPr>
              <a:t>ggplot2</a:t>
            </a:r>
            <a:r>
              <a:t> is that it’s highly flexible.</a:t>
            </a:r>
          </a:p>
          <a:p>
            <a:pPr lvl="0"/>
            <a:r>
              <a:t>You can directly plot wrangled data without having to save it to another object.</a:t>
            </a:r>
          </a:p>
          <a:p>
            <a:pPr lvl="0"/>
            <a:r>
              <a:t>In this example, we will visualize the proportion of race (</a:t>
            </a:r>
            <a:r>
              <a:rPr>
                <a:latin typeface="Courier"/>
              </a:rPr>
              <a:t>imprace</a:t>
            </a:r>
            <a:r>
              <a:t>) in each sex (</a:t>
            </a:r>
            <a:r>
              <a:rPr>
                <a:latin typeface="Courier"/>
              </a:rPr>
              <a:t>sexvar</a:t>
            </a:r>
            <a:r>
              <a:t>).</a:t>
            </a:r>
          </a:p>
          <a:p>
            <a:pPr lvl="0"/>
            <a:r>
              <a:t>First, wrangle our individual-level data to show proportion of each race by sex.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brfss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(sexvar, imprace)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num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calculate count by sex and race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(sexvar)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denom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(num), </a:t>
            </a:r>
            <a:r>
              <a:rPr>
                <a:solidFill>
                  <a:srgbClr val="5E5E5E"/>
                </a:solidFill>
                <a:latin typeface="Courier"/>
              </a:rPr>
              <a:t># calculate count for all race by sex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proportion =</a:t>
            </a:r>
            <a:r>
              <a:rPr>
                <a:solidFill>
                  <a:srgbClr val="003B4F"/>
                </a:solidFill>
                <a:latin typeface="Courier"/>
              </a:rPr>
              <a:t> num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denom)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knitr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sexvar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imprace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denom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proportion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American Indian/Alaskan Native,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0.0168339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Another race,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0.0327142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Asian,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0.0228795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Black,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0.0834160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0.0871370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White,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177811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234883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0.7570195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American Indian/Alaskan Native,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0.0169570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Another race,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0.0392522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Asian,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0.0303371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Black,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0.0664295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0.0894019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White, Non-Hispanic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154411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0.7576223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 wrangling to visualization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Then, we use information from wrangled data for ggplot.</a:t>
            </a:r>
          </a:p>
          <a:p>
            <a:pPr lvl="0"/>
            <a:r>
              <a:t>Note that we’re using </a:t>
            </a:r>
            <a:r>
              <a:rPr>
                <a:latin typeface="Courier"/>
              </a:rPr>
              <a:t>stat = 'identity'</a:t>
            </a:r>
            <a:r>
              <a:t> so that we’re plotting the value of a variable, instead of count of rows in the data.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brfss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(sexvar, imprace)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num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calculate count by sex and race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(sexvar)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denom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(num), </a:t>
            </a:r>
            <a:r>
              <a:rPr>
                <a:solidFill>
                  <a:srgbClr val="5E5E5E"/>
                </a:solidFill>
                <a:latin typeface="Courier"/>
              </a:rPr>
              <a:t># calculate count for all race by sex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proportion =</a:t>
            </a:r>
            <a:r>
              <a:rPr>
                <a:solidFill>
                  <a:srgbClr val="003B4F"/>
                </a:solidFill>
                <a:latin typeface="Courier"/>
              </a:rPr>
              <a:t> num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denom)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proportion,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 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'identity'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id="3" name="Picture 1" descr="epi_514_week_7_data_visualization-copy_files/figure-pptx/unnamed-chunk-2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You may now want to polish your design a little bit.</a:t>
            </a:r>
          </a:p>
          <a:p>
            <a:pPr lvl="0"/>
            <a:r>
              <a:t>There are A LOT of formatting that needs to/can happen, but the important thing is that the purpose of plotting is to facilitate communication.</a:t>
            </a:r>
          </a:p>
          <a:p>
            <a:pPr lvl="1"/>
            <a:r>
              <a:t>No shortcut: Trial-and-error and exposing yourself to various ways of plotting are really the keys to become proficient.</a:t>
            </a:r>
          </a:p>
          <a:p>
            <a:pPr lvl="0"/>
            <a:r>
              <a:t>Which one makes more sense?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Pastel2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'grey30'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"Option 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'Pastel2'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'bottom'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>
              <a:solidFill>
                <a:srgbClr val="003B4F"/>
              </a:solidFill>
              <a:latin typeface="Courier"/>
            </a:endParaRP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Blues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'grey30'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"Option 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'Blues'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'bottom'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marL="0" lvl="0" indent="0">
              <a:buNone/>
            </a:pPr>
            <a:endParaRPr>
              <a:solidFill>
                <a:srgbClr val="003B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Plotting - Figure formatting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Note that your upper layer will automatically override decisions.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(brfss)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sexvar,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imprace),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'grey30'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'Blues'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scale_fill_brewer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'Pastel2'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"Race"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'bottom'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id="3" name="Picture 1" descr="epi_514_week_7_data_visualization-copy_files/figure-pptx/unnamed-chunk-2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Make sure you use color-blind friendly palette when using multiple colors.</a:t>
            </a:r>
          </a:p>
          <a:p>
            <a:pPr lvl="1"/>
            <a:r>
              <a:t>Estimates suggest that red/green color blindness affects approximately 8% of males and around 0.5% of females of Northern European descent.</a:t>
            </a:r>
          </a:p>
          <a:p>
            <a:pPr lvl="0"/>
            <a:r>
              <a:t>Colors on other screens (esp. projectors!!) can look different than your laptop screen:</a:t>
            </a:r>
          </a:p>
          <a:p>
            <a:pPr lvl="1"/>
            <a:r>
              <a:t>Make sure you have enough contrast between colors so that the audience can still detect the difference even if the color slightly fades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Useful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CS&amp;SS 569 Visualizing Data and Models</a:t>
            </a:r>
          </a:p>
          <a:p>
            <a:pPr lvl="1"/>
            <a:r>
              <a:t>Course website has great learning materials and practice sets</a:t>
            </a:r>
          </a:p>
          <a:p>
            <a:pPr lvl="1"/>
            <a:r>
              <a:rPr>
                <a:hlinkClick r:id="rId2"/>
              </a:rPr>
              <a:t>Link to website</a:t>
            </a:r>
          </a:p>
          <a:p>
            <a:pPr lvl="0"/>
            <a:r>
              <a:t>ggplot2 package document: </a:t>
            </a:r>
            <a:r>
              <a:rPr>
                <a:hlinkClick r:id="rId3"/>
              </a:rPr>
              <a:t>link</a:t>
            </a:r>
          </a:p>
          <a:p>
            <a:pPr lvl="0"/>
            <a:r>
              <a:t>ggplot2 cheatsheet: </a:t>
            </a:r>
            <a:r>
              <a:rPr>
                <a:hlinkClick r:id="rId4"/>
              </a:rPr>
              <a:t>link</a:t>
            </a:r>
          </a:p>
          <a:p>
            <a:pPr lvl="0"/>
            <a:r>
              <a:t>Stackoverflow</a:t>
            </a:r>
          </a:p>
          <a:p>
            <a:pPr lvl="0"/>
            <a:r>
              <a:t>ChatGPT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2931</Words>
  <Application>Microsoft Macintosh PowerPoint</Application>
  <PresentationFormat>On-screen Show (16:9)</PresentationFormat>
  <Paragraphs>244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</vt:lpstr>
      <vt:lpstr>Office Theme</vt:lpstr>
      <vt:lpstr>Data Visualization</vt:lpstr>
      <vt:lpstr>Agenda</vt:lpstr>
      <vt:lpstr>Principles of data visualization</vt:lpstr>
      <vt:lpstr>Principles of data visualization</vt:lpstr>
      <vt:lpstr>Visualization for publication</vt:lpstr>
      <vt:lpstr>Introduction to ggplot2 package</vt:lpstr>
      <vt:lpstr>Installing and loading ggplot2</vt:lpstr>
      <vt:lpstr>Basic syntax of ggplot2</vt:lpstr>
      <vt:lpstr>Example - Loading data</vt:lpstr>
      <vt:lpstr>Plotting - Histogram</vt:lpstr>
      <vt:lpstr>Plotting - Histogram</vt:lpstr>
      <vt:lpstr>Plotting - Histogram</vt:lpstr>
      <vt:lpstr>Plotting - Scatter</vt:lpstr>
      <vt:lpstr>Plotting - Scatter</vt:lpstr>
      <vt:lpstr>Plotting - Scatter</vt:lpstr>
      <vt:lpstr>Plotting - Scatter</vt:lpstr>
      <vt:lpstr>Plotting - Scatter</vt:lpstr>
      <vt:lpstr>Plotting - Scatter</vt:lpstr>
      <vt:lpstr>PowerPoint Presentation</vt:lpstr>
      <vt:lpstr>Plotting - Line</vt:lpstr>
      <vt:lpstr>Plotting - Bars</vt:lpstr>
      <vt:lpstr>Data wrangling to visualization</vt:lpstr>
      <vt:lpstr>Data wrangling to visualization</vt:lpstr>
      <vt:lpstr>Plotting - Figure formatting</vt:lpstr>
      <vt:lpstr>Plotting - Figure formatting</vt:lpstr>
      <vt:lpstr>Other considerations</vt:lpstr>
      <vt:lpstr>Useful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Julie Kim</dc:creator>
  <cp:keywords/>
  <cp:lastModifiedBy>Julie Kim</cp:lastModifiedBy>
  <cp:revision>1</cp:revision>
  <dcterms:created xsi:type="dcterms:W3CDTF">2024-05-09T17:52:41Z</dcterms:created>
  <dcterms:modified xsi:type="dcterms:W3CDTF">2024-05-09T20:11:42Z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2024-05-09</vt:lpwstr>
  </property>
  <property fmtid="{D5CDD505-2E9C-101B-9397-08002B2CF9AE}" pid="6" name="editor">
    <vt:lpwstr>visual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EPI 514 2024 Sp</vt:lpwstr>
  </property>
  <property fmtid="{D5CDD505-2E9C-101B-9397-08002B2CF9AE}" pid="12" name="toc-title">
    <vt:lpwstr>Table of contents</vt:lpwstr>
  </property>
</Properties>
</file>